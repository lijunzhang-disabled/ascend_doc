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展示目的</a:t>
            </a:r>
          </a:p>
          <a:p>
            <a:r>
              <a:t>比较硬件/通道级统一保护与业务语义驱动的 Runtime 可选加密。右侧是新方案构想，未声明已经实现。</a:t>
            </a:r>
          </a:p>
          <a:p/>
          <a:p>
            <a:r>
              <a:t>左侧来源与范围</a:t>
            </a:r>
          </a:p>
          <a:p>
            <a:r>
              <a:t>[1] https://docs.nvidia.com/nvidia-secure-ai-with-blackwell-and-hopper-gpus-whitepaper.pdf</a:t>
            </a:r>
          </a:p>
          <a:p>
            <a:r>
              <a:t>NVIDIA Secure AI with Blackwell and Hopper GPUs, v1.3, August 2025.</a:t>
            </a:r>
          </a:p>
          <a:p>
            <a:r>
              <a:t>Printed page 9 describes Direct Access with Inline Encryption Using TDISP/IDE and requires compatible CPU, GPU and (if present) IDE-capable PCIe switch.</a:t>
            </a:r>
          </a:p>
          <a:p>
            <a:r>
              <a:t>Printed pages 13-14 distinguish configurations. Hopper PPCIE can leave NVLink unencrypted. Blackwell multi-GPU configurations also support NVLink protection. Page 21 describes hardware inline CPU-GPU encryption as platform/enablement dependent.</a:t>
            </a:r>
          </a:p>
          <a:p>
            <a:r>
              <a:t>[2] https://docs.nvidia.com/confidential-computing/virtual-machines/dev/deployment-guide/gpu-mode</a:t>
            </a:r>
          </a:p>
          <a:p>
            <a:r>
              <a:t>GPU CC/PPCIE modes are configured per GPU by a privileged host operation. Modes vary by platform.</a:t>
            </a:r>
          </a:p>
          <a:p>
            <a:r>
              <a:t>Accessed 2026-10-31.</a:t>
            </a:r>
          </a:p>
          <a:p/>
          <a:p>
            <a:r>
              <a:t>不能把“NV 开就全开”表述为 NVIDIA 所有设备、所有互连、所有模式一律全量加密。本页使用受保护通道内统一链路策略来表达比较维度。“链路策略不区分权重与 KV 标签”是链路机制与应用语义分层的概括，不是穷举证明所有 NVIDIA API 都不支持任何选择能力。</a:t>
            </a:r>
          </a:p>
          <a:p>
            <a:r>
              <a:t>同一受保护通道内的明文端点数据经 inline 加解密后在通道中密文传输。图中没有将 GPU 内部数据误画成永远密文。</a:t>
            </a:r>
          </a:p>
          <a:p/>
          <a:p>
            <a:r>
              <a:t>右侧方案</a:t>
            </a:r>
          </a:p>
          <a:p>
            <a:r>
              <a:t>框架/应用显式传递数据用途，通过 Buffer/Tensor/内存池标签或注册信息在 Runtime 做策略选择。普通 memcpy 参数只有地址、长度、方向与流，不足以独立判断权重或 KV。</a:t>
            </a:r>
          </a:p>
          <a:p>
            <a:r>
              <a:t>示例规则：模型权重 ENCRYPT；常规 H2D/D2H DEFAULT=ENCRYPT；显式 KV_CACHE=BYPASS。</a:t>
            </a:r>
          </a:p>
          <a:p>
            <a:r>
              <a:t>显式类别优先于通用方向规则；未标记保持默认加密。KV 不加密是业务策略示例，不表示 KV 天然不敏感或与全流量保护等价。</a:t>
            </a:r>
          </a:p>
          <a:p>
            <a:r>
              <a:t>加密分支复用 SecureDma；旁路分支复用原生 Memcpy/MemcpyAsync 及其同步/异步语义。</a:t>
            </a:r>
          </a:p>
          <a:p>
            <a:r>
              <a:t>实现仍需定义标签生命周期、内存复用后的清理、图捕获/重放时的策略稳定性及覆盖的接口范围，避免同一缓冲被误分类。性能收益有待测试，本页只陈述目标。</a:t>
            </a:r>
          </a:p>
          <a:p/>
          <a:p>
            <a:r>
              <a:t>现有实现基线（本地只读核对）</a:t>
            </a:r>
          </a:p>
          <a:p>
            <a:r>
              <a:t>/home/zlj/ub/runtime_enc/AscendCCv2-Runtime/src/runtime/core/src/memory/secure_dma/secure_dma_route.cc</a:t>
            </a:r>
          </a:p>
          <a:p>
            <a:r>
              <a:t>ResolveRequest 根据 H2D/D2H 等方向和已启用 Engine 路由；当前未提供本页提出的业务类别策略。</a:t>
            </a:r>
          </a:p>
          <a:p>
            <a:r>
              <a:t>建议的策略判断位于安全路由入口：匹配 ENCRYPT 后走既有 Engine，明确 BYPASS 返回原生拷贝路径。</a:t>
            </a:r>
          </a:p>
          <a:p>
            <a:r>
              <a:t>本次仅制作 PPT，不修改 Runtime。</a:t>
            </a:r>
          </a:p>
          <a:p/>
          <a:p>
            <a:r>
              <a:t>可编辑性</a:t>
            </a:r>
          </a:p>
          <a:p>
            <a:r>
              <a:t>本页由 PowerPoint 原生文本框、形状和箭头构成，已整体组合。取消组合即可逐项编辑。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nvidia.com/nvidia-secure-ai-with-blackwell-and-hopper-gpus-whitepaper.pdf" TargetMode="External"/><Relationship Id="rId3" Type="http://schemas.openxmlformats.org/officeDocument/2006/relationships/hyperlink" Target="https://docs.nvidia.com/confidential-computing/virtual-machines/dev/deployment-guide/gpu-mode" TargetMode="Externa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完整方案对比页（原生可编辑元素）"/>
          <p:cNvGrpSpPr/>
          <p:nvPr/>
        </p:nvGrpSpPr>
        <p:grpSpPr>
          <a:xfrm>
            <a:off x="411480" y="228600"/>
            <a:ext cx="11365992" cy="6565392"/>
            <a:chOff x="411480" y="228600"/>
            <a:chExt cx="11365992" cy="6565392"/>
          </a:xfrm>
        </p:grpSpPr>
        <p:sp>
          <p:nvSpPr>
            <p:cNvPr id="3" name="CANN Runtime 可选加密"/>
            <p:cNvSpPr txBox="1"/>
            <p:nvPr/>
          </p:nvSpPr>
          <p:spPr>
            <a:xfrm>
              <a:off x="420624" y="228600"/>
              <a:ext cx="9875520" cy="4389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CANN Runtime 可选加密</a:t>
              </a:r>
            </a:p>
          </p:txBody>
        </p:sp>
        <p:sp>
          <p:nvSpPr>
            <p:cNvPr id="4" name="按数据类别选择保护路径：模型权重与常规 H2D/D2H 加密，KV cache 可按策略旁路"/>
            <p:cNvSpPr txBox="1"/>
            <p:nvPr/>
          </p:nvSpPr>
          <p:spPr>
            <a:xfrm>
              <a:off x="438912" y="758952"/>
              <a:ext cx="11228832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按数据类别选择保护路径：模型权重与常规 H2D/D2H 加密，KV cache 可按策略旁路</a:t>
              </a:r>
            </a:p>
          </p:txBody>
        </p:sp>
        <p:sp>
          <p:nvSpPr>
            <p:cNvPr id="5" name="方案状态"/>
            <p:cNvSpPr/>
            <p:nvPr/>
          </p:nvSpPr>
          <p:spPr>
            <a:xfrm>
              <a:off x="10661904" y="320040"/>
              <a:ext cx="1097280" cy="301752"/>
            </a:xfrm>
            <a:prstGeom prst="roundRect">
              <a:avLst>
                <a:gd name="adj" fmla="val 12000"/>
              </a:avLst>
            </a:prstGeom>
            <a:solidFill>
              <a:srgbClr val="EEF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方案构想"/>
            <p:cNvSpPr txBox="1"/>
            <p:nvPr/>
          </p:nvSpPr>
          <p:spPr>
            <a:xfrm>
              <a:off x="10680192" y="320040"/>
              <a:ext cx="1060704" cy="30175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lang="zh-CN">
                  <a:solidFill>
                    <a:srgbClr val="1C6DD0"/>
                  </a:solidFill>
                  <a:latin typeface="Microsoft YaHei"/>
                  <a:ea typeface="Microsoft YaHei"/>
                </a:rPr>
                <a:t>方案构想</a:t>
              </a:r>
            </a:p>
          </p:txBody>
        </p:sp>
        <p:sp>
          <p:nvSpPr>
            <p:cNvPr id="7" name="NVIDIA 对比面板"/>
            <p:cNvSpPr/>
            <p:nvPr/>
          </p:nvSpPr>
          <p:spPr>
            <a:xfrm>
              <a:off x="411480" y="1271016"/>
              <a:ext cx="5431536" cy="4489704"/>
            </a:xfrm>
            <a:prstGeom prst="roundRect">
              <a:avLst>
                <a:gd name="adj" fmla="val 12000"/>
              </a:avLst>
            </a:prstGeom>
            <a:solidFill>
              <a:srgbClr val="FAFCFF"/>
            </a:solidFill>
            <a:ln w="10160">
              <a:solidFill>
                <a:srgbClr val="DFE6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ANN 方案面板"/>
            <p:cNvSpPr/>
            <p:nvPr/>
          </p:nvSpPr>
          <p:spPr>
            <a:xfrm>
              <a:off x="6153912" y="1271016"/>
              <a:ext cx="5623560" cy="4489704"/>
            </a:xfrm>
            <a:prstGeom prst="roundRect">
              <a:avLst>
                <a:gd name="adj" fmla="val 12000"/>
              </a:avLst>
            </a:prstGeom>
            <a:solidFill>
              <a:srgbClr val="FAFCFF"/>
            </a:solidFill>
            <a:ln w="10160">
              <a:solidFill>
                <a:srgbClr val="DFE6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VIDIA 顶部色条"/>
            <p:cNvSpPr/>
            <p:nvPr/>
          </p:nvSpPr>
          <p:spPr>
            <a:xfrm>
              <a:off x="411480" y="1271016"/>
              <a:ext cx="5431536" cy="50292"/>
            </a:xfrm>
            <a:prstGeom prst="rect">
              <a:avLst/>
            </a:prstGeom>
            <a:solidFill>
              <a:srgbClr val="5A8E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NN 顶部色条"/>
            <p:cNvSpPr/>
            <p:nvPr/>
          </p:nvSpPr>
          <p:spPr>
            <a:xfrm>
              <a:off x="6153912" y="1271016"/>
              <a:ext cx="5623560" cy="50292"/>
            </a:xfrm>
            <a:prstGeom prst="rect">
              <a:avLst/>
            </a:prstGeom>
            <a:solidFill>
              <a:srgbClr val="1C6D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NVIDIA · 硬件 Inline 加解密"/>
            <p:cNvSpPr txBox="1"/>
            <p:nvPr/>
          </p:nvSpPr>
          <p:spPr>
            <a:xfrm>
              <a:off x="640080" y="1481328"/>
              <a:ext cx="4965192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NVIDIA · 硬件 Inline 加解密</a:t>
              </a:r>
            </a:p>
          </p:txBody>
        </p:sp>
        <p:sp>
          <p:nvSpPr>
            <p:cNvPr id="12" name="受保护通道内统一加密"/>
            <p:cNvSpPr txBox="1"/>
            <p:nvPr/>
          </p:nvSpPr>
          <p:spPr>
            <a:xfrm>
              <a:off x="649224" y="1847088"/>
              <a:ext cx="4937760" cy="21945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受保护通道内统一加密</a:t>
              </a:r>
            </a:p>
          </p:txBody>
        </p:sp>
        <p:sp>
          <p:nvSpPr>
            <p:cNvPr id="13" name="我们的方案 · Runtime 可选加密"/>
            <p:cNvSpPr txBox="1"/>
            <p:nvPr/>
          </p:nvSpPr>
          <p:spPr>
            <a:xfrm>
              <a:off x="6382512" y="1481328"/>
              <a:ext cx="515721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我们的方案 · Runtime 可选加密</a:t>
              </a:r>
            </a:p>
          </p:txBody>
        </p:sp>
        <p:sp>
          <p:nvSpPr>
            <p:cNvPr id="14" name="按业务标签选择加密或旁路"/>
            <p:cNvSpPr txBox="1"/>
            <p:nvPr/>
          </p:nvSpPr>
          <p:spPr>
            <a:xfrm>
              <a:off x="6391656" y="1847088"/>
              <a:ext cx="5129784" cy="21945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1C6DD0"/>
                  </a:solidFill>
                  <a:latin typeface="Microsoft YaHei"/>
                  <a:ea typeface="Microsoft YaHei"/>
                </a:rPr>
                <a:t>按业务标签选择加密或旁路</a:t>
              </a:r>
            </a:p>
          </p:txBody>
        </p:sp>
        <p:sp>
          <p:nvSpPr>
            <p:cNvPr id="15" name="待传输数据"/>
            <p:cNvSpPr txBox="1"/>
            <p:nvPr/>
          </p:nvSpPr>
          <p:spPr>
            <a:xfrm>
              <a:off x="658368" y="2203704"/>
              <a:ext cx="1399032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待传输数据</a:t>
              </a:r>
            </a:p>
          </p:txBody>
        </p:sp>
        <p:sp>
          <p:nvSpPr>
            <p:cNvPr id="16" name="统一保护启用标记"/>
            <p:cNvSpPr/>
            <p:nvPr/>
          </p:nvSpPr>
          <p:spPr>
            <a:xfrm>
              <a:off x="2423160" y="2157984"/>
              <a:ext cx="1572768" cy="265176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保护启用：ON"/>
            <p:cNvSpPr txBox="1"/>
            <p:nvPr/>
          </p:nvSpPr>
          <p:spPr>
            <a:xfrm>
              <a:off x="2441448" y="2157984"/>
              <a:ext cx="1536192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保护启用：ON</a:t>
              </a:r>
            </a:p>
          </p:txBody>
        </p:sp>
        <p:sp>
          <p:nvSpPr>
            <p:cNvPr id="18" name="受保护通道"/>
            <p:cNvSpPr txBox="1"/>
            <p:nvPr/>
          </p:nvSpPr>
          <p:spPr>
            <a:xfrm>
              <a:off x="4352544" y="2203704"/>
              <a:ext cx="1243584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受保护通道</a:t>
              </a:r>
            </a:p>
          </p:txBody>
        </p:sp>
        <p:sp>
          <p:nvSpPr>
            <p:cNvPr id="19" name="硬件 inline 引擎"/>
            <p:cNvSpPr/>
            <p:nvPr/>
          </p:nvSpPr>
          <p:spPr>
            <a:xfrm>
              <a:off x="2432304" y="2569464"/>
              <a:ext cx="1563624" cy="1746504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 w="10160">
              <a:solidFill>
                <a:srgbClr val="5A8E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nline"/>
            <p:cNvSpPr txBox="1"/>
            <p:nvPr/>
          </p:nvSpPr>
          <p:spPr>
            <a:xfrm>
              <a:off x="2514600" y="2834640"/>
              <a:ext cx="1399032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Inline</a:t>
              </a:r>
            </a:p>
          </p:txBody>
        </p:sp>
        <p:sp>
          <p:nvSpPr>
            <p:cNvPr id="21" name="加 / 解密"/>
            <p:cNvSpPr txBox="1"/>
            <p:nvPr/>
          </p:nvSpPr>
          <p:spPr>
            <a:xfrm>
              <a:off x="2514600" y="3255264"/>
              <a:ext cx="1399032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加 / 解密</a:t>
              </a:r>
            </a:p>
          </p:txBody>
        </p:sp>
        <p:sp>
          <p:nvSpPr>
            <p:cNvPr id="22" name="硬件透明执行"/>
            <p:cNvSpPr txBox="1"/>
            <p:nvPr/>
          </p:nvSpPr>
          <p:spPr>
            <a:xfrm>
              <a:off x="2505456" y="3767328"/>
              <a:ext cx="1417320" cy="2103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0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硬件透明执行</a:t>
              </a:r>
            </a:p>
          </p:txBody>
        </p:sp>
        <p:sp>
          <p:nvSpPr>
            <p:cNvPr id="23" name="NVIDIA 输入 模型权重"/>
            <p:cNvSpPr/>
            <p:nvPr/>
          </p:nvSpPr>
          <p:spPr>
            <a:xfrm>
              <a:off x="649224" y="2642616"/>
              <a:ext cx="1417320" cy="4114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DFE6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模型权重"/>
            <p:cNvSpPr txBox="1"/>
            <p:nvPr/>
          </p:nvSpPr>
          <p:spPr>
            <a:xfrm>
              <a:off x="667512" y="2642616"/>
              <a:ext cx="138074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模型权重</a:t>
              </a:r>
            </a:p>
          </p:txBody>
        </p:sp>
        <p:cxnSp>
          <p:nvCxnSpPr>
            <p:cNvPr id="25" name="连接箭头"/>
            <p:cNvCxnSpPr/>
            <p:nvPr/>
          </p:nvCxnSpPr>
          <p:spPr>
            <a:xfrm>
              <a:off x="2103120" y="2848356"/>
              <a:ext cx="274320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箭头"/>
            <p:cNvCxnSpPr/>
            <p:nvPr/>
          </p:nvCxnSpPr>
          <p:spPr>
            <a:xfrm>
              <a:off x="4032504" y="2848356"/>
              <a:ext cx="265176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NVIDIA 输出 模型权重 密文"/>
            <p:cNvSpPr/>
            <p:nvPr/>
          </p:nvSpPr>
          <p:spPr>
            <a:xfrm>
              <a:off x="4343400" y="2642616"/>
              <a:ext cx="1234440" cy="411480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 w="10160">
              <a:solidFill>
                <a:srgbClr val="CFDF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密文传输"/>
            <p:cNvSpPr txBox="1"/>
            <p:nvPr/>
          </p:nvSpPr>
          <p:spPr>
            <a:xfrm>
              <a:off x="4361688" y="2642616"/>
              <a:ext cx="119786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密文传输</a:t>
              </a:r>
            </a:p>
          </p:txBody>
        </p:sp>
        <p:sp>
          <p:nvSpPr>
            <p:cNvPr id="29" name="NVIDIA 输入 常规 H2D/D2H"/>
            <p:cNvSpPr/>
            <p:nvPr/>
          </p:nvSpPr>
          <p:spPr>
            <a:xfrm>
              <a:off x="649224" y="3227832"/>
              <a:ext cx="1417320" cy="4114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DFE6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常规 H2D/D2H"/>
            <p:cNvSpPr txBox="1"/>
            <p:nvPr/>
          </p:nvSpPr>
          <p:spPr>
            <a:xfrm>
              <a:off x="667512" y="3227832"/>
              <a:ext cx="138074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常规 H2D/D2H</a:t>
              </a:r>
            </a:p>
          </p:txBody>
        </p:sp>
        <p:cxnSp>
          <p:nvCxnSpPr>
            <p:cNvPr id="31" name="连接箭头"/>
            <p:cNvCxnSpPr/>
            <p:nvPr/>
          </p:nvCxnSpPr>
          <p:spPr>
            <a:xfrm>
              <a:off x="2103120" y="3433572"/>
              <a:ext cx="274320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箭头"/>
            <p:cNvCxnSpPr/>
            <p:nvPr/>
          </p:nvCxnSpPr>
          <p:spPr>
            <a:xfrm>
              <a:off x="4032504" y="3433572"/>
              <a:ext cx="265176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VIDIA 输出 常规 H2D/D2H 密文"/>
            <p:cNvSpPr/>
            <p:nvPr/>
          </p:nvSpPr>
          <p:spPr>
            <a:xfrm>
              <a:off x="4343400" y="3227832"/>
              <a:ext cx="1234440" cy="411480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 w="10160">
              <a:solidFill>
                <a:srgbClr val="CFDF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密文传输"/>
            <p:cNvSpPr txBox="1"/>
            <p:nvPr/>
          </p:nvSpPr>
          <p:spPr>
            <a:xfrm>
              <a:off x="4361688" y="3227832"/>
              <a:ext cx="119786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密文传输</a:t>
              </a:r>
            </a:p>
          </p:txBody>
        </p:sp>
        <p:sp>
          <p:nvSpPr>
            <p:cNvPr id="35" name="NVIDIA 输入 KV cache"/>
            <p:cNvSpPr/>
            <p:nvPr/>
          </p:nvSpPr>
          <p:spPr>
            <a:xfrm>
              <a:off x="649224" y="3813048"/>
              <a:ext cx="1417320" cy="4114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DFE6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KV cache"/>
            <p:cNvSpPr txBox="1"/>
            <p:nvPr/>
          </p:nvSpPr>
          <p:spPr>
            <a:xfrm>
              <a:off x="667512" y="3813048"/>
              <a:ext cx="138074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KV cache</a:t>
              </a:r>
            </a:p>
          </p:txBody>
        </p:sp>
        <p:cxnSp>
          <p:nvCxnSpPr>
            <p:cNvPr id="37" name="连接箭头"/>
            <p:cNvCxnSpPr/>
            <p:nvPr/>
          </p:nvCxnSpPr>
          <p:spPr>
            <a:xfrm>
              <a:off x="2103120" y="4018787"/>
              <a:ext cx="274320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箭头"/>
            <p:cNvCxnSpPr/>
            <p:nvPr/>
          </p:nvCxnSpPr>
          <p:spPr>
            <a:xfrm>
              <a:off x="4032504" y="4018787"/>
              <a:ext cx="265176" cy="0"/>
            </a:xfrm>
            <a:prstGeom prst="line">
              <a:avLst/>
            </a:prstGeom>
            <a:ln w="22860">
              <a:solidFill>
                <a:srgbClr val="5A8E1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VIDIA 输出 KV cache 密文"/>
            <p:cNvSpPr/>
            <p:nvPr/>
          </p:nvSpPr>
          <p:spPr>
            <a:xfrm>
              <a:off x="4343400" y="3813048"/>
              <a:ext cx="1234440" cy="411480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 w="10160">
              <a:solidFill>
                <a:srgbClr val="CFDF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密文传输"/>
            <p:cNvSpPr txBox="1"/>
            <p:nvPr/>
          </p:nvSpPr>
          <p:spPr>
            <a:xfrm>
              <a:off x="4361688" y="3813048"/>
              <a:ext cx="1197864" cy="4114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密文传输</a:t>
              </a:r>
            </a:p>
          </p:txBody>
        </p:sp>
        <p:sp>
          <p:nvSpPr>
            <p:cNvPr id="41" name="同一受保护通道内，采用统一的链路保护策略"/>
            <p:cNvSpPr txBox="1"/>
            <p:nvPr/>
          </p:nvSpPr>
          <p:spPr>
            <a:xfrm>
              <a:off x="658368" y="4498848"/>
              <a:ext cx="4919472" cy="22860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0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同一受保护通道内，采用统一的链路保护策略</a:t>
              </a:r>
            </a:p>
          </p:txBody>
        </p:sp>
        <p:sp>
          <p:nvSpPr>
            <p:cNvPr id="42" name="硬件保护粒度"/>
            <p:cNvSpPr/>
            <p:nvPr/>
          </p:nvSpPr>
          <p:spPr>
            <a:xfrm>
              <a:off x="649224" y="4901184"/>
              <a:ext cx="4928616" cy="466344"/>
            </a:xfrm>
            <a:prstGeom prst="roundRect">
              <a:avLst>
                <a:gd name="adj" fmla="val 12000"/>
              </a:avLst>
            </a:prstGeom>
            <a:solidFill>
              <a:srgbClr val="F1F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选择粒度"/>
            <p:cNvSpPr txBox="1"/>
            <p:nvPr/>
          </p:nvSpPr>
          <p:spPr>
            <a:xfrm>
              <a:off x="777240" y="4965192"/>
              <a:ext cx="960120" cy="27432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zh-CN">
                  <a:solidFill>
                    <a:srgbClr val="5A8E12"/>
                  </a:solidFill>
                  <a:latin typeface="Microsoft YaHei"/>
                  <a:ea typeface="Microsoft YaHei"/>
                </a:rPr>
                <a:t>选择粒度</a:t>
              </a:r>
            </a:p>
          </p:txBody>
        </p:sp>
        <p:sp>
          <p:nvSpPr>
            <p:cNvPr id="44" name="设备 / 受保护通道"/>
            <p:cNvSpPr txBox="1"/>
            <p:nvPr/>
          </p:nvSpPr>
          <p:spPr>
            <a:xfrm>
              <a:off x="1828800" y="4965192"/>
              <a:ext cx="3575304" cy="27432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设备 / 受保护通道</a:t>
              </a:r>
            </a:p>
          </p:txBody>
        </p:sp>
        <p:sp>
          <p:nvSpPr>
            <p:cNvPr id="45" name="对应用透明 · 链路策略不区分权重与 KV 标签"/>
            <p:cNvSpPr txBox="1"/>
            <p:nvPr/>
          </p:nvSpPr>
          <p:spPr>
            <a:xfrm>
              <a:off x="667512" y="5486400"/>
              <a:ext cx="4892040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对应用透明 · 链路策略不区分权重与 KV 标签</a:t>
              </a:r>
            </a:p>
          </p:txBody>
        </p:sp>
        <p:sp>
          <p:nvSpPr>
            <p:cNvPr id="46" name="业务分类入口"/>
            <p:cNvSpPr/>
            <p:nvPr/>
          </p:nvSpPr>
          <p:spPr>
            <a:xfrm>
              <a:off x="6409944" y="2221992"/>
              <a:ext cx="5111496" cy="329184"/>
            </a:xfrm>
            <a:prstGeom prst="roundRect">
              <a:avLst>
                <a:gd name="adj" fmla="val 12000"/>
              </a:avLst>
            </a:prstGeom>
            <a:solidFill>
              <a:srgbClr val="EEF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业务 / 框架标记：Buffer · Tensor · 内存池"/>
            <p:cNvSpPr txBox="1"/>
            <p:nvPr/>
          </p:nvSpPr>
          <p:spPr>
            <a:xfrm>
              <a:off x="6483096" y="2221992"/>
              <a:ext cx="4965192" cy="32918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1C6DD0"/>
                  </a:solidFill>
                  <a:latin typeface="Microsoft YaHei"/>
                  <a:ea typeface="Microsoft YaHei"/>
                </a:rPr>
                <a:t>业务 / 框架标记：Buffer · Tensor · 内存池</a:t>
              </a:r>
            </a:p>
          </p:txBody>
        </p:sp>
        <p:cxnSp>
          <p:nvCxnSpPr>
            <p:cNvPr id="48" name="连接箭头"/>
            <p:cNvCxnSpPr/>
            <p:nvPr/>
          </p:nvCxnSpPr>
          <p:spPr>
            <a:xfrm>
              <a:off x="8965692" y="2578608"/>
              <a:ext cx="0" cy="137160"/>
            </a:xfrm>
            <a:prstGeom prst="line">
              <a:avLst/>
            </a:prstGeom>
            <a:ln w="20320">
              <a:solidFill>
                <a:srgbClr val="1C6DD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untime 策略选择器"/>
            <p:cNvSpPr/>
            <p:nvPr/>
          </p:nvSpPr>
          <p:spPr>
            <a:xfrm>
              <a:off x="6409944" y="2752344"/>
              <a:ext cx="5111496" cy="138988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1C6D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ANN Runtime · 策略选择器"/>
            <p:cNvSpPr txBox="1"/>
            <p:nvPr/>
          </p:nvSpPr>
          <p:spPr>
            <a:xfrm>
              <a:off x="6547104" y="2816352"/>
              <a:ext cx="4837176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C6DD0"/>
                  </a:solidFill>
                  <a:latin typeface="Microsoft YaHei"/>
                  <a:ea typeface="Microsoft YaHei"/>
                </a:rPr>
                <a:t>CANN Runtime · 策略选择器</a:t>
              </a:r>
            </a:p>
          </p:txBody>
        </p:sp>
        <p:sp>
          <p:nvSpPr>
            <p:cNvPr id="51" name="策略：模型权重 加密"/>
            <p:cNvSpPr/>
            <p:nvPr/>
          </p:nvSpPr>
          <p:spPr>
            <a:xfrm>
              <a:off x="6583680" y="3182112"/>
              <a:ext cx="4764024" cy="246888"/>
            </a:xfrm>
            <a:prstGeom prst="roundRect">
              <a:avLst>
                <a:gd name="adj" fmla="val 12000"/>
              </a:avLst>
            </a:prstGeom>
            <a:solidFill>
              <a:srgbClr val="F2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模型权重"/>
            <p:cNvSpPr txBox="1"/>
            <p:nvPr/>
          </p:nvSpPr>
          <p:spPr>
            <a:xfrm>
              <a:off x="6693408" y="3182112"/>
              <a:ext cx="2441448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模型权重</a:t>
              </a:r>
            </a:p>
          </p:txBody>
        </p:sp>
        <p:sp>
          <p:nvSpPr>
            <p:cNvPr id="53" name="加密"/>
            <p:cNvSpPr txBox="1"/>
            <p:nvPr/>
          </p:nvSpPr>
          <p:spPr>
            <a:xfrm>
              <a:off x="9418320" y="3182112"/>
              <a:ext cx="1746504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7040B8"/>
                  </a:solidFill>
                  <a:latin typeface="Microsoft YaHei"/>
                  <a:ea typeface="Microsoft YaHei"/>
                </a:rPr>
                <a:t>加密</a:t>
              </a:r>
            </a:p>
          </p:txBody>
        </p:sp>
        <p:sp>
          <p:nvSpPr>
            <p:cNvPr id="54" name="策略：常规 H2D / D2H 加密"/>
            <p:cNvSpPr/>
            <p:nvPr/>
          </p:nvSpPr>
          <p:spPr>
            <a:xfrm>
              <a:off x="6583680" y="3493008"/>
              <a:ext cx="4764024" cy="246888"/>
            </a:xfrm>
            <a:prstGeom prst="roundRect">
              <a:avLst>
                <a:gd name="adj" fmla="val 12000"/>
              </a:avLst>
            </a:prstGeom>
            <a:solidFill>
              <a:srgbClr val="F2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常规 H2D / D2H"/>
            <p:cNvSpPr txBox="1"/>
            <p:nvPr/>
          </p:nvSpPr>
          <p:spPr>
            <a:xfrm>
              <a:off x="6693408" y="3493008"/>
              <a:ext cx="2441448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常规 H2D / D2H</a:t>
              </a:r>
            </a:p>
          </p:txBody>
        </p:sp>
        <p:sp>
          <p:nvSpPr>
            <p:cNvPr id="56" name="加密"/>
            <p:cNvSpPr txBox="1"/>
            <p:nvPr/>
          </p:nvSpPr>
          <p:spPr>
            <a:xfrm>
              <a:off x="9418320" y="3493008"/>
              <a:ext cx="1746504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7040B8"/>
                  </a:solidFill>
                  <a:latin typeface="Microsoft YaHei"/>
                  <a:ea typeface="Microsoft YaHei"/>
                </a:rPr>
                <a:t>加密</a:t>
              </a:r>
            </a:p>
          </p:txBody>
        </p:sp>
        <p:sp>
          <p:nvSpPr>
            <p:cNvPr id="57" name="策略：KV cache 旁路 / 不加密"/>
            <p:cNvSpPr/>
            <p:nvPr/>
          </p:nvSpPr>
          <p:spPr>
            <a:xfrm>
              <a:off x="6583680" y="3803904"/>
              <a:ext cx="4764024" cy="246888"/>
            </a:xfrm>
            <a:prstGeom prst="roundRect">
              <a:avLst>
                <a:gd name="adj" fmla="val 12000"/>
              </a:avLst>
            </a:prstGeom>
            <a:solidFill>
              <a:srgbClr val="EAF7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KV cache"/>
            <p:cNvSpPr txBox="1"/>
            <p:nvPr/>
          </p:nvSpPr>
          <p:spPr>
            <a:xfrm>
              <a:off x="6693408" y="3803904"/>
              <a:ext cx="2441448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KV cache</a:t>
              </a:r>
            </a:p>
          </p:txBody>
        </p:sp>
        <p:sp>
          <p:nvSpPr>
            <p:cNvPr id="59" name="旁路 / 不加密"/>
            <p:cNvSpPr txBox="1"/>
            <p:nvPr/>
          </p:nvSpPr>
          <p:spPr>
            <a:xfrm>
              <a:off x="9418320" y="3803904"/>
              <a:ext cx="1746504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8C91"/>
                  </a:solidFill>
                  <a:latin typeface="Microsoft YaHei"/>
                  <a:ea typeface="Microsoft YaHei"/>
                </a:rPr>
                <a:t>旁路 / 不加密</a:t>
              </a:r>
            </a:p>
          </p:txBody>
        </p:sp>
        <p:cxnSp>
          <p:nvCxnSpPr>
            <p:cNvPr id="60" name="连接箭头"/>
            <p:cNvCxnSpPr/>
            <p:nvPr/>
          </p:nvCxnSpPr>
          <p:spPr>
            <a:xfrm>
              <a:off x="8965692" y="4160520"/>
              <a:ext cx="0" cy="146304"/>
            </a:xfrm>
            <a:prstGeom prst="line">
              <a:avLst/>
            </a:prstGeom>
            <a:ln w="20320">
              <a:solidFill>
                <a:srgbClr val="1C6DD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箭头"/>
            <p:cNvCxnSpPr/>
            <p:nvPr/>
          </p:nvCxnSpPr>
          <p:spPr>
            <a:xfrm>
              <a:off x="7626096" y="4306824"/>
              <a:ext cx="2679192" cy="0"/>
            </a:xfrm>
            <a:prstGeom prst="line">
              <a:avLst/>
            </a:prstGeom>
            <a:ln w="20320">
              <a:solidFill>
                <a:srgbClr val="1C6DD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连接箭头"/>
            <p:cNvCxnSpPr/>
            <p:nvPr/>
          </p:nvCxnSpPr>
          <p:spPr>
            <a:xfrm>
              <a:off x="7626096" y="4306824"/>
              <a:ext cx="0" cy="146304"/>
            </a:xfrm>
            <a:prstGeom prst="line">
              <a:avLst/>
            </a:prstGeom>
            <a:ln w="20320">
              <a:solidFill>
                <a:srgbClr val="7040B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连接箭头"/>
            <p:cNvCxnSpPr/>
            <p:nvPr/>
          </p:nvCxnSpPr>
          <p:spPr>
            <a:xfrm>
              <a:off x="10305288" y="4306824"/>
              <a:ext cx="0" cy="146304"/>
            </a:xfrm>
            <a:prstGeom prst="line">
              <a:avLst/>
            </a:prstGeom>
            <a:ln w="20320">
              <a:solidFill>
                <a:srgbClr val="008C9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选择加密路径"/>
            <p:cNvSpPr/>
            <p:nvPr/>
          </p:nvSpPr>
          <p:spPr>
            <a:xfrm>
              <a:off x="6409944" y="4498848"/>
              <a:ext cx="2432304" cy="795528"/>
            </a:xfrm>
            <a:prstGeom prst="roundRect">
              <a:avLst>
                <a:gd name="adj" fmla="val 12000"/>
              </a:avLst>
            </a:prstGeom>
            <a:solidFill>
              <a:srgbClr val="F2ECFA"/>
            </a:solidFill>
            <a:ln w="10160">
              <a:solidFill>
                <a:srgbClr val="7040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加密路径"/>
            <p:cNvSpPr txBox="1"/>
            <p:nvPr/>
          </p:nvSpPr>
          <p:spPr>
            <a:xfrm>
              <a:off x="6519672" y="4590288"/>
              <a:ext cx="2212848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7040B8"/>
                  </a:solidFill>
                  <a:latin typeface="Microsoft YaHei"/>
                  <a:ea typeface="Microsoft YaHei"/>
                </a:rPr>
                <a:t>加密路径</a:t>
              </a:r>
            </a:p>
          </p:txBody>
        </p:sp>
        <p:sp>
          <p:nvSpPr>
            <p:cNvPr id="66" name="复用 SecureDma"/>
            <p:cNvSpPr txBox="1"/>
            <p:nvPr/>
          </p:nvSpPr>
          <p:spPr>
            <a:xfrm>
              <a:off x="6492240" y="4937760"/>
              <a:ext cx="2267712" cy="2103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复用 SecureDma</a:t>
              </a:r>
            </a:p>
          </p:txBody>
        </p:sp>
        <p:sp>
          <p:nvSpPr>
            <p:cNvPr id="67" name="选择原生拷贝路径"/>
            <p:cNvSpPr/>
            <p:nvPr/>
          </p:nvSpPr>
          <p:spPr>
            <a:xfrm>
              <a:off x="9089136" y="4498848"/>
              <a:ext cx="2432304" cy="795528"/>
            </a:xfrm>
            <a:prstGeom prst="roundRect">
              <a:avLst>
                <a:gd name="adj" fmla="val 12000"/>
              </a:avLst>
            </a:prstGeom>
            <a:solidFill>
              <a:srgbClr val="EAF7F6"/>
            </a:solidFill>
            <a:ln w="10160">
              <a:solidFill>
                <a:srgbClr val="008C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旁路路径"/>
            <p:cNvSpPr txBox="1"/>
            <p:nvPr/>
          </p:nvSpPr>
          <p:spPr>
            <a:xfrm>
              <a:off x="9180576" y="4590288"/>
              <a:ext cx="2249424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08C91"/>
                  </a:solidFill>
                  <a:latin typeface="Microsoft YaHei"/>
                  <a:ea typeface="Microsoft YaHei"/>
                </a:rPr>
                <a:t>旁路路径</a:t>
              </a:r>
            </a:p>
          </p:txBody>
        </p:sp>
        <p:sp>
          <p:nvSpPr>
            <p:cNvPr id="69" name="复用原生拷贝"/>
            <p:cNvSpPr txBox="1"/>
            <p:nvPr/>
          </p:nvSpPr>
          <p:spPr>
            <a:xfrm>
              <a:off x="9180576" y="4937760"/>
              <a:ext cx="2249424" cy="2103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152744"/>
                  </a:solidFill>
                  <a:latin typeface="Microsoft YaHei"/>
                  <a:ea typeface="Microsoft YaHei"/>
                </a:rPr>
                <a:t>复用原生拷贝</a:t>
              </a:r>
            </a:p>
          </p:txBody>
        </p:sp>
        <p:sp>
          <p:nvSpPr>
            <p:cNvPr id="70" name="显式标签优先；未标记流量默认加密"/>
            <p:cNvSpPr txBox="1"/>
            <p:nvPr/>
          </p:nvSpPr>
          <p:spPr>
            <a:xfrm>
              <a:off x="6446520" y="5486400"/>
              <a:ext cx="5038344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显式标签优先；未标记流量默认加密</a:t>
              </a:r>
            </a:p>
          </p:txBody>
        </p:sp>
        <p:sp>
          <p:nvSpPr>
            <p:cNvPr id="71" name="方案目标"/>
            <p:cNvSpPr/>
            <p:nvPr/>
          </p:nvSpPr>
          <p:spPr>
            <a:xfrm>
              <a:off x="411480" y="5934456"/>
              <a:ext cx="11365992" cy="466344"/>
            </a:xfrm>
            <a:prstGeom prst="roundRect">
              <a:avLst>
                <a:gd name="adj" fmla="val 12000"/>
              </a:avLst>
            </a:prstGeom>
            <a:solidFill>
              <a:srgbClr val="15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目标：保护策略可配置，加解密成本按需分配"/>
            <p:cNvSpPr txBox="1"/>
            <p:nvPr/>
          </p:nvSpPr>
          <p:spPr>
            <a:xfrm>
              <a:off x="594360" y="5998464"/>
              <a:ext cx="11000232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目标：保护策略可配置，加解密成本按需分配</a:t>
              </a:r>
            </a:p>
          </p:txBody>
        </p:sp>
        <p:sp>
          <p:nvSpPr>
            <p:cNvPr id="73" name="注：左图限定支持 TDISP/IDE 的端到端平台与受保护通道；右图为拟议方案，KV 旁路需业务明确允许。"/>
            <p:cNvSpPr txBox="1"/>
            <p:nvPr/>
          </p:nvSpPr>
          <p:spPr>
            <a:xfrm>
              <a:off x="448056" y="6492240"/>
              <a:ext cx="11283696" cy="14630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0" lang="zh-CN">
                  <a:solidFill>
                    <a:srgbClr val="607087"/>
                  </a:solidFill>
                  <a:latin typeface="Microsoft YaHei"/>
                  <a:ea typeface="Microsoft YaHei"/>
                </a:rPr>
                <a:t>注：左图限定支持 TDISP/IDE 的端到端平台与受保护通道；右图为拟议方案，KV 旁路需业务明确允许。</a:t>
              </a:r>
            </a:p>
          </p:txBody>
        </p:sp>
        <p:sp>
          <p:nvSpPr>
            <p:cNvPr id="74" name="参考 [1] NVIDIA Secure AI White Paper · TDISP/IDE"/>
            <p:cNvSpPr txBox="1"/>
            <p:nvPr/>
          </p:nvSpPr>
          <p:spPr>
            <a:xfrm>
              <a:off x="448056" y="6675120"/>
              <a:ext cx="5120640" cy="11887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>
                  <a:solidFill>
                    <a:srgbClr val="607087"/>
                  </a:solidFill>
                  <a:latin typeface="Microsoft YaHei"/>
                  <a:ea typeface="Microsoft YaHei"/>
                  <a:hlinkClick r:id="rId2"/>
                </a:rPr>
                <a:t>参考 [1] NVIDIA Secure AI White Paper · TDISP/IDE</a:t>
              </a:r>
            </a:p>
          </p:txBody>
        </p:sp>
        <p:sp>
          <p:nvSpPr>
            <p:cNvPr id="75" name="[2] NVIDIA GPU Mode · 源码基线 runtime_enc / iter-014"/>
            <p:cNvSpPr txBox="1"/>
            <p:nvPr/>
          </p:nvSpPr>
          <p:spPr>
            <a:xfrm>
              <a:off x="6263640" y="6675120"/>
              <a:ext cx="5468112" cy="11887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>
                  <a:solidFill>
                    <a:srgbClr val="607087"/>
                  </a:solidFill>
                  <a:latin typeface="Microsoft YaHei"/>
                  <a:ea typeface="Microsoft YaHei"/>
                  <a:hlinkClick r:id="rId3"/>
                </a:rPr>
                <a:t>[2] NVIDIA GPU Mode · 源码基线 runtime_enc / iter-014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 Runtime 可选加密：按业务流量选择保护路径</dc:title>
  <dc:subject>NVIDIA 硬件 Inline 与 Runtime 按数据类别分流的方案对比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