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图中所有文字、方框、流程箭头均为原生 PowerPoint 元素，可取消组合后编辑。</a:t>
            </a:r>
          </a:p>
          <a:p/>
          <a:p>
            <a:r>
              <a:t>技术范围：Ascend 950 / UB，runtime_enc 的 iter-014，加密路径启用时。</a:t>
            </a:r>
          </a:p>
          <a:p>
            <a:r>
              <a:t>Runtime HEAD: 9b9efba50；AICPU HEAD: 7fd3986。</a:t>
            </a:r>
          </a:p>
          <a:p>
            <a:r>
              <a:t>同步和异步都路由到 SecureDma；同步等待完整处理结束，异步提交后返回。</a:t>
            </a:r>
          </a:p>
          <a:p>
            <a:r>
              <a:t>密文搬运由 Host worker 通过 Driver::MemCopySync / UB 驱动 URMA 发起。</a:t>
            </a:r>
          </a:p>
          <a:p>
            <a:r>
              <a:t>STARS 调度 ValueWait 和 AICPU SecureDma；AICPU 负责设备侧加解密。</a:t>
            </a:r>
          </a:p>
          <a:p>
            <a:r>
              <a:t>H2D：Host 加密 -&gt; 密文搬运 -&gt; 发布 READY -&gt; AICPU 解密。</a:t>
            </a:r>
          </a:p>
          <a:p>
            <a:r>
              <a:t>D2H：AICPU 加密 -&gt; 完成 -&gt; 密文搬运 -&gt; Host 解密。</a:t>
            </a:r>
          </a:p>
          <a:p>
            <a:r>
              <a:t>Stream 同步通过 HostCompletion 纳入主机解密完成。</a:t>
            </a:r>
          </a:p>
          <a:p>
            <a:r>
              <a:t>算法是 AES-256-CTR，本图未声明 AEAD 或 MAC。</a:t>
            </a:r>
          </a:p>
          <a:p/>
          <a:p>
            <a:r>
              <a:t>源代码：</a:t>
            </a:r>
          </a:p>
          <a:p>
            <a:r>
              <a:t>/home/zlj/ub/runtime_enc/AscendCCv2-Runtime/src/runtime/core/src/memory/secure_dma/</a:t>
            </a:r>
          </a:p>
          <a:p>
            <a:r>
              <a:t>  secure_dma_engine.cc</a:t>
            </a:r>
          </a:p>
          <a:p>
            <a:r>
              <a:t>  secure_dma_whole_copy.cc</a:t>
            </a:r>
          </a:p>
          <a:p>
            <a:r>
              <a:t>  secure_dma_large_copy.cc</a:t>
            </a:r>
          </a:p>
          <a:p>
            <a:r>
              <a:t>  secure_dma_memory.cc</a:t>
            </a:r>
          </a:p>
          <a:p>
            <a:r>
              <a:t>  secure_dma_runtime.cc</a:t>
            </a:r>
          </a:p>
          <a:p>
            <a:r>
              <a:t>  secure_dma_aes_ctr.cc</a:t>
            </a:r>
          </a:p>
          <a:p>
            <a:r>
              <a:t>/home/zlj/ub/runtime_enc/AscendCCv2-Runtime/src/runtime/core/src/stream/stream.cc</a:t>
            </a:r>
          </a:p>
          <a:p>
            <a:r>
              <a:t>/home/zlj/ub/runtime_enc/AscendCCv2-AICPU/ms_kernels/src/secure_dma/secure_dma_whole_copy_device.inc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加密拷贝流程图（取消组合后逐项编辑）"/>
          <p:cNvGrpSpPr/>
          <p:nvPr/>
        </p:nvGrpSpPr>
        <p:grpSpPr>
          <a:xfrm>
            <a:off x="6400038" y="788944"/>
            <a:ext cx="5489143" cy="5262006"/>
            <a:chOff x="6400038" y="788944"/>
            <a:chExt cx="5489143" cy="5262006"/>
          </a:xfrm>
        </p:grpSpPr>
        <p:sp>
          <p:nvSpPr>
            <p:cNvPr id="3" name="加密拷贝：同步与异步"/>
            <p:cNvSpPr txBox="1"/>
            <p:nvPr/>
          </p:nvSpPr>
          <p:spPr>
            <a:xfrm>
              <a:off x="6400038" y="788944"/>
              <a:ext cx="5489143" cy="271302"/>
            </a:xfrm>
            <a:prstGeom prst="rect">
              <a:avLst/>
            </a:prstGeom>
            <a:noFill/>
          </p:spPr>
          <p:txBody>
            <a:bodyPr wrap="none" lIns="12618" rIns="1261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加密拷贝：同步与异步</a:t>
              </a:r>
            </a:p>
          </p:txBody>
        </p:sp>
        <p:sp>
          <p:nvSpPr>
            <p:cNvPr id="4" name="CANN Runtime · Ascend 950 / UB · runtime_enc / iter-014"/>
            <p:cNvSpPr txBox="1"/>
            <p:nvPr/>
          </p:nvSpPr>
          <p:spPr>
            <a:xfrm>
              <a:off x="6400038" y="1098102"/>
              <a:ext cx="5489143" cy="164043"/>
            </a:xfrm>
            <a:prstGeom prst="rect">
              <a:avLst/>
            </a:prstGeom>
            <a:noFill/>
          </p:spPr>
          <p:txBody>
            <a:bodyPr wrap="none" lIns="12618" rIns="1261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35" b="1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CANN Runtime · Ascend 950 / UB · runtime_enc / iter-014</a:t>
              </a:r>
            </a:p>
          </p:txBody>
        </p:sp>
        <p:sp>
          <p:nvSpPr>
            <p:cNvPr id="5" name="同步接口卡片"/>
            <p:cNvSpPr/>
            <p:nvPr/>
          </p:nvSpPr>
          <p:spPr>
            <a:xfrm>
              <a:off x="6400038" y="1356786"/>
              <a:ext cx="2668859" cy="580461"/>
            </a:xfrm>
            <a:prstGeom prst="roundRect">
              <a:avLst>
                <a:gd name="adj" fmla="val 12000"/>
              </a:avLst>
            </a:prstGeom>
            <a:solidFill>
              <a:srgbClr val="EEF6FE"/>
            </a:solidFill>
            <a:ln w="7010">
              <a:solidFill>
                <a:srgbClr val="087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同步接口标题底色"/>
            <p:cNvSpPr/>
            <p:nvPr/>
          </p:nvSpPr>
          <p:spPr>
            <a:xfrm>
              <a:off x="6400038" y="1356786"/>
              <a:ext cx="2668859" cy="182971"/>
            </a:xfrm>
            <a:prstGeom prst="roundRect">
              <a:avLst>
                <a:gd name="adj" fmla="val 12000"/>
              </a:avLst>
            </a:prstGeom>
            <a:solidFill>
              <a:srgbClr val="087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同步接口"/>
            <p:cNvSpPr txBox="1"/>
            <p:nvPr/>
          </p:nvSpPr>
          <p:spPr>
            <a:xfrm>
              <a:off x="6437894" y="1359941"/>
              <a:ext cx="2593146" cy="170352"/>
            </a:xfrm>
            <a:prstGeom prst="rect">
              <a:avLst/>
            </a:prstGeom>
            <a:noFill/>
          </p:spPr>
          <p:txBody>
            <a:bodyPr wrap="none" lIns="12618" rIns="1261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7" b="1" lang="zh-CN">
                  <a:solidFill>
                    <a:srgbClr val="FFFFFF"/>
                  </a:solidFill>
                  <a:latin typeface="Microsoft YaHei"/>
                  <a:ea typeface="Microsoft YaHei"/>
                </a:rPr>
                <a:t>同步接口</a:t>
              </a:r>
            </a:p>
          </p:txBody>
        </p:sp>
        <p:sp>
          <p:nvSpPr>
            <p:cNvPr id="8" name="aclrtMemcpy"/>
            <p:cNvSpPr txBox="1"/>
            <p:nvPr/>
          </p:nvSpPr>
          <p:spPr>
            <a:xfrm>
              <a:off x="6437894" y="1577614"/>
              <a:ext cx="2593146" cy="157734"/>
            </a:xfrm>
            <a:prstGeom prst="rect">
              <a:avLst/>
            </a:prstGeom>
            <a:noFill/>
          </p:spPr>
          <p:txBody>
            <a:bodyPr wrap="none" lIns="12618" rIns="1261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72" b="1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aclrtMemcpy</a:t>
              </a:r>
            </a:p>
          </p:txBody>
        </p:sp>
        <p:sp>
          <p:nvSpPr>
            <p:cNvPr id="9" name="整条加密链完成后返回"/>
            <p:cNvSpPr txBox="1"/>
            <p:nvPr/>
          </p:nvSpPr>
          <p:spPr>
            <a:xfrm>
              <a:off x="6437894" y="1773204"/>
              <a:ext cx="2593146" cy="132496"/>
            </a:xfrm>
            <a:prstGeom prst="rect">
              <a:avLst/>
            </a:prstGeom>
            <a:noFill/>
          </p:spPr>
          <p:txBody>
            <a:bodyPr wrap="none" lIns="12618" rIns="1261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6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整条加密链完成后返回</a:t>
              </a:r>
            </a:p>
          </p:txBody>
        </p:sp>
        <p:sp>
          <p:nvSpPr>
            <p:cNvPr id="10" name="异步接口卡片"/>
            <p:cNvSpPr/>
            <p:nvPr/>
          </p:nvSpPr>
          <p:spPr>
            <a:xfrm>
              <a:off x="9220322" y="1356786"/>
              <a:ext cx="2668859" cy="580461"/>
            </a:xfrm>
            <a:prstGeom prst="roundRect">
              <a:avLst>
                <a:gd name="adj" fmla="val 12000"/>
              </a:avLst>
            </a:prstGeom>
            <a:solidFill>
              <a:srgbClr val="ECFAF8"/>
            </a:solidFill>
            <a:ln w="7010">
              <a:solidFill>
                <a:srgbClr val="009B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异步接口标题底色"/>
            <p:cNvSpPr/>
            <p:nvPr/>
          </p:nvSpPr>
          <p:spPr>
            <a:xfrm>
              <a:off x="9220322" y="1356786"/>
              <a:ext cx="2668859" cy="182971"/>
            </a:xfrm>
            <a:prstGeom prst="roundRect">
              <a:avLst>
                <a:gd name="adj" fmla="val 12000"/>
              </a:avLst>
            </a:prstGeom>
            <a:solidFill>
              <a:srgbClr val="009BA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异步接口"/>
            <p:cNvSpPr txBox="1"/>
            <p:nvPr/>
          </p:nvSpPr>
          <p:spPr>
            <a:xfrm>
              <a:off x="9258178" y="1359941"/>
              <a:ext cx="2593146" cy="170352"/>
            </a:xfrm>
            <a:prstGeom prst="rect">
              <a:avLst/>
            </a:prstGeom>
            <a:noFill/>
          </p:spPr>
          <p:txBody>
            <a:bodyPr wrap="none" lIns="12618" rIns="1261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7" b="1" lang="zh-CN">
                  <a:solidFill>
                    <a:srgbClr val="FFFFFF"/>
                  </a:solidFill>
                  <a:latin typeface="Microsoft YaHei"/>
                  <a:ea typeface="Microsoft YaHei"/>
                </a:rPr>
                <a:t>异步接口</a:t>
              </a:r>
            </a:p>
          </p:txBody>
        </p:sp>
        <p:sp>
          <p:nvSpPr>
            <p:cNvPr id="13" name="aclrtMemcpyAsync"/>
            <p:cNvSpPr txBox="1"/>
            <p:nvPr/>
          </p:nvSpPr>
          <p:spPr>
            <a:xfrm>
              <a:off x="9258178" y="1577614"/>
              <a:ext cx="2593146" cy="157734"/>
            </a:xfrm>
            <a:prstGeom prst="rect">
              <a:avLst/>
            </a:prstGeom>
            <a:noFill/>
          </p:spPr>
          <p:txBody>
            <a:bodyPr wrap="none" lIns="12618" rIns="1261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72" b="1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aclrtMemcpyAsync</a:t>
              </a:r>
            </a:p>
          </p:txBody>
        </p:sp>
        <p:sp>
          <p:nvSpPr>
            <p:cNvPr id="14" name="提交返回；流同步等待完成"/>
            <p:cNvSpPr txBox="1"/>
            <p:nvPr/>
          </p:nvSpPr>
          <p:spPr>
            <a:xfrm>
              <a:off x="9258178" y="1773204"/>
              <a:ext cx="2593146" cy="132496"/>
            </a:xfrm>
            <a:prstGeom prst="rect">
              <a:avLst/>
            </a:prstGeom>
            <a:noFill/>
          </p:spPr>
          <p:txBody>
            <a:bodyPr wrap="none" lIns="12618" rIns="1261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6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提交返回；流同步等待完成</a:t>
              </a:r>
            </a:p>
          </p:txBody>
        </p:sp>
        <p:cxnSp>
          <p:nvCxnSpPr>
            <p:cNvPr id="15" name="连接箭头"/>
            <p:cNvCxnSpPr/>
            <p:nvPr/>
          </p:nvCxnSpPr>
          <p:spPr>
            <a:xfrm>
              <a:off x="7734467" y="1943557"/>
              <a:ext cx="0" cy="50475"/>
            </a:xfrm>
            <a:prstGeom prst="line">
              <a:avLst/>
            </a:prstGeom>
            <a:ln w="14020">
              <a:solidFill>
                <a:srgbClr val="087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连接箭头"/>
            <p:cNvCxnSpPr/>
            <p:nvPr/>
          </p:nvCxnSpPr>
          <p:spPr>
            <a:xfrm>
              <a:off x="10554751" y="1943557"/>
              <a:ext cx="0" cy="50475"/>
            </a:xfrm>
            <a:prstGeom prst="line">
              <a:avLst/>
            </a:prstGeom>
            <a:ln w="14020">
              <a:solidFill>
                <a:srgbClr val="087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连接箭头"/>
            <p:cNvCxnSpPr/>
            <p:nvPr/>
          </p:nvCxnSpPr>
          <p:spPr>
            <a:xfrm>
              <a:off x="7734467" y="1994032"/>
              <a:ext cx="2820284" cy="0"/>
            </a:xfrm>
            <a:prstGeom prst="line">
              <a:avLst/>
            </a:prstGeom>
            <a:ln w="14020">
              <a:solidFill>
                <a:srgbClr val="087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连接箭头"/>
            <p:cNvCxnSpPr/>
            <p:nvPr/>
          </p:nvCxnSpPr>
          <p:spPr>
            <a:xfrm>
              <a:off x="9144609" y="1994032"/>
              <a:ext cx="0" cy="69403"/>
            </a:xfrm>
            <a:prstGeom prst="line">
              <a:avLst/>
            </a:prstGeom>
            <a:ln w="14020">
              <a:solidFill>
                <a:srgbClr val="0879D9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共同安全执行路径"/>
            <p:cNvSpPr/>
            <p:nvPr/>
          </p:nvSpPr>
          <p:spPr>
            <a:xfrm>
              <a:off x="6400038" y="2076053"/>
              <a:ext cx="5489143" cy="227136"/>
            </a:xfrm>
            <a:prstGeom prst="roundRect">
              <a:avLst>
                <a:gd name="adj" fmla="val 12000"/>
              </a:avLst>
            </a:prstGeom>
            <a:solidFill>
              <a:srgbClr val="EAF4FD"/>
            </a:solidFill>
            <a:ln w="7010">
              <a:solidFill>
                <a:srgbClr val="087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共同进入 SecureDma：Host worker 负责主机处理与密文搬运"/>
            <p:cNvSpPr txBox="1"/>
            <p:nvPr/>
          </p:nvSpPr>
          <p:spPr>
            <a:xfrm>
              <a:off x="6463131" y="2088672"/>
              <a:ext cx="5362955" cy="182971"/>
            </a:xfrm>
            <a:prstGeom prst="rect">
              <a:avLst/>
            </a:prstGeom>
            <a:noFill/>
          </p:spPr>
          <p:txBody>
            <a:bodyPr wrap="none" lIns="12618" rIns="1261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4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/>
              </a:r>
              <a:r>
                <a:rPr sz="1104" b="1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共同进入 SecureDma</a:t>
              </a:r>
              <a:r>
                <a:rPr sz="1104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：Host worker 负责主机处理与密文搬运</a:t>
              </a:r>
            </a:p>
          </p:txBody>
        </p:sp>
        <p:sp>
          <p:nvSpPr>
            <p:cNvPr id="21" name="设备控制路径"/>
            <p:cNvSpPr/>
            <p:nvPr/>
          </p:nvSpPr>
          <p:spPr>
            <a:xfrm>
              <a:off x="6400038" y="2397831"/>
              <a:ext cx="5489143" cy="668792"/>
            </a:xfrm>
            <a:prstGeom prst="roundRect">
              <a:avLst>
                <a:gd name="adj" fmla="val 12000"/>
              </a:avLst>
            </a:prstGeom>
            <a:solidFill>
              <a:srgbClr val="ECFAF8"/>
            </a:solidFill>
            <a:ln w="7010">
              <a:solidFill>
                <a:srgbClr val="009B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控制路径标题底色"/>
            <p:cNvSpPr/>
            <p:nvPr/>
          </p:nvSpPr>
          <p:spPr>
            <a:xfrm>
              <a:off x="6400038" y="2397831"/>
              <a:ext cx="5489143" cy="189280"/>
            </a:xfrm>
            <a:prstGeom prst="roundRect">
              <a:avLst>
                <a:gd name="adj" fmla="val 12000"/>
              </a:avLst>
            </a:prstGeom>
            <a:solidFill>
              <a:srgbClr val="009BA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设备流上的控制路径"/>
            <p:cNvSpPr txBox="1"/>
            <p:nvPr/>
          </p:nvSpPr>
          <p:spPr>
            <a:xfrm>
              <a:off x="6463131" y="2400985"/>
              <a:ext cx="5362955" cy="176662"/>
            </a:xfrm>
            <a:prstGeom prst="rect">
              <a:avLst/>
            </a:prstGeom>
            <a:noFill/>
          </p:spPr>
          <p:txBody>
            <a:bodyPr wrap="none" lIns="12618" rIns="1261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7" b="1" lang="zh-CN">
                  <a:solidFill>
                    <a:srgbClr val="FFFFFF"/>
                  </a:solidFill>
                  <a:latin typeface="Microsoft YaHei"/>
                  <a:ea typeface="Microsoft YaHei"/>
                </a:rPr>
                <a:t>设备流上的控制路径</a:t>
              </a:r>
            </a:p>
          </p:txBody>
        </p:sp>
        <p:sp>
          <p:nvSpPr>
            <p:cNvPr id="24" name="Runtime 提交 SQE节点"/>
            <p:cNvSpPr/>
            <p:nvPr/>
          </p:nvSpPr>
          <p:spPr>
            <a:xfrm>
              <a:off x="6513606" y="2669133"/>
              <a:ext cx="1274490" cy="214518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7010">
              <a:solidFill>
                <a:srgbClr val="009B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untime 提交 SQE"/>
            <p:cNvSpPr txBox="1"/>
            <p:nvPr/>
          </p:nvSpPr>
          <p:spPr>
            <a:xfrm>
              <a:off x="6526225" y="2669133"/>
              <a:ext cx="1249253" cy="214518"/>
            </a:xfrm>
            <a:prstGeom prst="rect">
              <a:avLst/>
            </a:prstGeom>
            <a:noFill/>
          </p:spPr>
          <p:txBody>
            <a:bodyPr wrap="none" lIns="12618" rIns="1261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Runtime 提交 SQE</a:t>
              </a:r>
            </a:p>
          </p:txBody>
        </p:sp>
        <p:sp>
          <p:nvSpPr>
            <p:cNvPr id="26" name="STARS 按流调度节点"/>
            <p:cNvSpPr/>
            <p:nvPr/>
          </p:nvSpPr>
          <p:spPr>
            <a:xfrm>
              <a:off x="7933212" y="2669133"/>
              <a:ext cx="1160922" cy="214518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7010">
              <a:solidFill>
                <a:srgbClr val="009B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STARS 按流调度"/>
            <p:cNvSpPr txBox="1"/>
            <p:nvPr/>
          </p:nvSpPr>
          <p:spPr>
            <a:xfrm>
              <a:off x="7945831" y="2669133"/>
              <a:ext cx="1135684" cy="214518"/>
            </a:xfrm>
            <a:prstGeom prst="rect">
              <a:avLst/>
            </a:prstGeom>
            <a:noFill/>
          </p:spPr>
          <p:txBody>
            <a:bodyPr wrap="none" lIns="12618" rIns="1261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STARS 按流调度</a:t>
              </a:r>
            </a:p>
          </p:txBody>
        </p:sp>
        <p:sp>
          <p:nvSpPr>
            <p:cNvPr id="28" name="ValueWait(READY)节点"/>
            <p:cNvSpPr/>
            <p:nvPr/>
          </p:nvSpPr>
          <p:spPr>
            <a:xfrm>
              <a:off x="9239250" y="2669133"/>
              <a:ext cx="1198778" cy="214518"/>
            </a:xfrm>
            <a:prstGeom prst="roundRect">
              <a:avLst>
                <a:gd name="adj" fmla="val 12000"/>
              </a:avLst>
            </a:prstGeom>
            <a:solidFill>
              <a:srgbClr val="F4EDFE"/>
            </a:solidFill>
            <a:ln w="7010">
              <a:solidFill>
                <a:srgbClr val="713B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ValueWait(READY)"/>
            <p:cNvSpPr txBox="1"/>
            <p:nvPr/>
          </p:nvSpPr>
          <p:spPr>
            <a:xfrm>
              <a:off x="9251869" y="2669133"/>
              <a:ext cx="1173540" cy="214518"/>
            </a:xfrm>
            <a:prstGeom prst="rect">
              <a:avLst/>
            </a:prstGeom>
            <a:noFill/>
          </p:spPr>
          <p:txBody>
            <a:bodyPr wrap="none" lIns="12618" rIns="1261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>
                  <a:solidFill>
                    <a:srgbClr val="713BC0"/>
                  </a:solidFill>
                  <a:latin typeface="Microsoft YaHei"/>
                  <a:ea typeface="Microsoft YaHei"/>
                </a:rPr>
                <a:t>ValueWait(READY)</a:t>
              </a:r>
            </a:p>
          </p:txBody>
        </p:sp>
        <p:sp>
          <p:nvSpPr>
            <p:cNvPr id="30" name="AICPU SecureDma节点"/>
            <p:cNvSpPr/>
            <p:nvPr/>
          </p:nvSpPr>
          <p:spPr>
            <a:xfrm>
              <a:off x="10583143" y="2669133"/>
              <a:ext cx="1192469" cy="214518"/>
            </a:xfrm>
            <a:prstGeom prst="roundRect">
              <a:avLst>
                <a:gd name="adj" fmla="val 12000"/>
              </a:avLst>
            </a:prstGeom>
            <a:solidFill>
              <a:srgbClr val="F4EDFE"/>
            </a:solidFill>
            <a:ln w="7010">
              <a:solidFill>
                <a:srgbClr val="713B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AICPU SecureDma"/>
            <p:cNvSpPr txBox="1"/>
            <p:nvPr/>
          </p:nvSpPr>
          <p:spPr>
            <a:xfrm>
              <a:off x="10595762" y="2669133"/>
              <a:ext cx="1167231" cy="214518"/>
            </a:xfrm>
            <a:prstGeom prst="rect">
              <a:avLst/>
            </a:prstGeom>
            <a:noFill/>
          </p:spPr>
          <p:txBody>
            <a:bodyPr wrap="none" lIns="12618" rIns="1261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>
                  <a:solidFill>
                    <a:srgbClr val="713BC0"/>
                  </a:solidFill>
                  <a:latin typeface="Microsoft YaHei"/>
                  <a:ea typeface="Microsoft YaHei"/>
                </a:rPr>
                <a:t>AICPU SecureDma</a:t>
              </a:r>
            </a:p>
          </p:txBody>
        </p:sp>
        <p:cxnSp>
          <p:nvCxnSpPr>
            <p:cNvPr id="32" name="连接箭头"/>
            <p:cNvCxnSpPr/>
            <p:nvPr/>
          </p:nvCxnSpPr>
          <p:spPr>
            <a:xfrm>
              <a:off x="7797561" y="2776392"/>
              <a:ext cx="119878" cy="0"/>
            </a:xfrm>
            <a:prstGeom prst="line">
              <a:avLst/>
            </a:prstGeom>
            <a:ln w="14020">
              <a:solidFill>
                <a:srgbClr val="009BA3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连接箭头"/>
            <p:cNvCxnSpPr/>
            <p:nvPr/>
          </p:nvCxnSpPr>
          <p:spPr>
            <a:xfrm>
              <a:off x="9103599" y="2776392"/>
              <a:ext cx="119877" cy="0"/>
            </a:xfrm>
            <a:prstGeom prst="line">
              <a:avLst/>
            </a:prstGeom>
            <a:ln w="14020">
              <a:solidFill>
                <a:srgbClr val="009BA3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连接箭头"/>
            <p:cNvCxnSpPr/>
            <p:nvPr/>
          </p:nvCxnSpPr>
          <p:spPr>
            <a:xfrm>
              <a:off x="10447492" y="2776392"/>
              <a:ext cx="119878" cy="0"/>
            </a:xfrm>
            <a:prstGeom prst="line">
              <a:avLst/>
            </a:prstGeom>
            <a:ln w="14020">
              <a:solidFill>
                <a:srgbClr val="009BA3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STARS 调度任务，AICPU 执行加解密"/>
            <p:cNvSpPr txBox="1"/>
            <p:nvPr/>
          </p:nvSpPr>
          <p:spPr>
            <a:xfrm>
              <a:off x="6494678" y="2927817"/>
              <a:ext cx="5299862" cy="107259"/>
            </a:xfrm>
            <a:prstGeom prst="rect">
              <a:avLst/>
            </a:prstGeom>
            <a:noFill/>
          </p:spPr>
          <p:txBody>
            <a:bodyPr wrap="none" lIns="12618" rIns="1261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3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STARS 调度任务，AICPU 执行加解密</a:t>
              </a:r>
            </a:p>
          </p:txBody>
        </p:sp>
        <p:sp>
          <p:nvSpPr>
            <p:cNvPr id="36" name="H2D：Host 加密，Device 解密面板"/>
            <p:cNvSpPr/>
            <p:nvPr/>
          </p:nvSpPr>
          <p:spPr>
            <a:xfrm>
              <a:off x="6400038" y="3161263"/>
              <a:ext cx="5489143" cy="1110447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7010">
              <a:solidFill>
                <a:srgbClr val="087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H2D：Host 加密，Device 解密标题底色"/>
            <p:cNvSpPr/>
            <p:nvPr/>
          </p:nvSpPr>
          <p:spPr>
            <a:xfrm>
              <a:off x="6400038" y="3161263"/>
              <a:ext cx="5489143" cy="195590"/>
            </a:xfrm>
            <a:prstGeom prst="roundRect">
              <a:avLst>
                <a:gd name="adj" fmla="val 12000"/>
              </a:avLst>
            </a:prstGeom>
            <a:solidFill>
              <a:srgbClr val="087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H2D：Host 加密，Device 解密"/>
            <p:cNvSpPr txBox="1"/>
            <p:nvPr/>
          </p:nvSpPr>
          <p:spPr>
            <a:xfrm>
              <a:off x="6513606" y="3164418"/>
              <a:ext cx="5262006" cy="179816"/>
            </a:xfrm>
            <a:prstGeom prst="rect">
              <a:avLst/>
            </a:prstGeom>
            <a:noFill/>
          </p:spPr>
          <p:txBody>
            <a:bodyPr wrap="none" lIns="12618" rIns="12618" tIns="0" bIns="0" anchor="ctr">
              <a:spAutoFit/>
            </a:bodyPr>
            <a:lstStyle/>
            <a:p>
              <a:pPr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7" b="1" lang="zh-CN">
                  <a:solidFill>
                    <a:srgbClr val="FFFFFF"/>
                  </a:solidFill>
                  <a:latin typeface="Microsoft YaHei"/>
                  <a:ea typeface="Microsoft YaHei"/>
                </a:rPr>
                <a:t>H2D：Host 加密，Device 解密</a:t>
              </a:r>
            </a:p>
          </p:txBody>
        </p:sp>
        <p:sp>
          <p:nvSpPr>
            <p:cNvPr id="39" name="Host 侧步骤标签"/>
            <p:cNvSpPr/>
            <p:nvPr/>
          </p:nvSpPr>
          <p:spPr>
            <a:xfrm>
              <a:off x="6513606" y="3419947"/>
              <a:ext cx="883310" cy="195590"/>
            </a:xfrm>
            <a:prstGeom prst="roundRect">
              <a:avLst>
                <a:gd name="adj" fmla="val 12000"/>
              </a:avLst>
            </a:prstGeom>
            <a:solidFill>
              <a:srgbClr val="EEF6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1"/>
            <p:cNvSpPr txBox="1"/>
            <p:nvPr/>
          </p:nvSpPr>
          <p:spPr>
            <a:xfrm>
              <a:off x="6538844" y="3419947"/>
              <a:ext cx="151424" cy="195590"/>
            </a:xfrm>
            <a:prstGeom prst="rect">
              <a:avLst/>
            </a:prstGeom>
            <a:noFill/>
          </p:spPr>
          <p:txBody>
            <a:bodyPr wrap="none" lIns="12618" rIns="1261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35" b="1" lang="zh-CN">
                  <a:solidFill>
                    <a:srgbClr val="0879D9"/>
                  </a:solidFill>
                  <a:latin typeface="Microsoft YaHei"/>
                  <a:ea typeface="Microsoft YaHei"/>
                </a:rPr>
                <a:t>1</a:t>
              </a:r>
            </a:p>
          </p:txBody>
        </p:sp>
        <p:sp>
          <p:nvSpPr>
            <p:cNvPr id="41" name="Host 侧"/>
            <p:cNvSpPr txBox="1"/>
            <p:nvPr/>
          </p:nvSpPr>
          <p:spPr>
            <a:xfrm>
              <a:off x="6702887" y="3419947"/>
              <a:ext cx="656173" cy="195590"/>
            </a:xfrm>
            <a:prstGeom prst="rect">
              <a:avLst/>
            </a:prstGeom>
            <a:noFill/>
          </p:spPr>
          <p:txBody>
            <a:bodyPr wrap="none" lIns="12618" rIns="1261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>
                  <a:solidFill>
                    <a:srgbClr val="0879D9"/>
                  </a:solidFill>
                  <a:latin typeface="Microsoft YaHei"/>
                  <a:ea typeface="Microsoft YaHei"/>
                </a:rPr>
                <a:t>Host 侧</a:t>
              </a:r>
            </a:p>
          </p:txBody>
        </p:sp>
        <p:sp>
          <p:nvSpPr>
            <p:cNvPr id="42" name="Host 侧流程背景"/>
            <p:cNvSpPr/>
            <p:nvPr/>
          </p:nvSpPr>
          <p:spPr>
            <a:xfrm>
              <a:off x="7497866" y="3419947"/>
              <a:ext cx="4277746" cy="195590"/>
            </a:xfrm>
            <a:prstGeom prst="roundRect">
              <a:avLst>
                <a:gd name="adj" fmla="val 12000"/>
              </a:avLst>
            </a:prstGeom>
            <a:solidFill>
              <a:srgbClr val="EEF6FE"/>
            </a:solidFill>
            <a:ln w="7010">
              <a:solidFill>
                <a:srgbClr val="B4CFE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业务明文 → Host worker 加密 → 密文缓冲"/>
            <p:cNvSpPr txBox="1"/>
            <p:nvPr/>
          </p:nvSpPr>
          <p:spPr>
            <a:xfrm>
              <a:off x="7523104" y="3419947"/>
              <a:ext cx="4227271" cy="195590"/>
            </a:xfrm>
            <a:prstGeom prst="rect">
              <a:avLst/>
            </a:prstGeom>
            <a:noFill/>
          </p:spPr>
          <p:txBody>
            <a:bodyPr wrap="none" lIns="12618" rIns="1261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69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/>
              </a:r>
              <a:r>
                <a:rPr sz="1069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业务明文 → </a:t>
              </a:r>
              <a:r>
                <a:rPr sz="1069" b="1" lang="zh-CN">
                  <a:solidFill>
                    <a:srgbClr val="713BC0"/>
                  </a:solidFill>
                  <a:latin typeface="Microsoft YaHei"/>
                  <a:ea typeface="Microsoft YaHei"/>
                </a:rPr>
                <a:t>Host worker 加密</a:t>
              </a:r>
              <a:r>
                <a:rPr sz="1069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 → 密文缓冲</a:t>
              </a:r>
            </a:p>
          </p:txBody>
        </p:sp>
        <p:cxnSp>
          <p:nvCxnSpPr>
            <p:cNvPr id="44" name="连接箭头"/>
            <p:cNvCxnSpPr/>
            <p:nvPr/>
          </p:nvCxnSpPr>
          <p:spPr>
            <a:xfrm>
              <a:off x="9636739" y="3621846"/>
              <a:ext cx="0" cy="63094"/>
            </a:xfrm>
            <a:prstGeom prst="line">
              <a:avLst/>
            </a:prstGeom>
            <a:ln w="14020">
              <a:solidFill>
                <a:srgbClr val="0879D9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UB 传输步骤标签"/>
            <p:cNvSpPr/>
            <p:nvPr/>
          </p:nvSpPr>
          <p:spPr>
            <a:xfrm>
              <a:off x="6513606" y="3691249"/>
              <a:ext cx="883310" cy="195590"/>
            </a:xfrm>
            <a:prstGeom prst="roundRect">
              <a:avLst>
                <a:gd name="adj" fmla="val 12000"/>
              </a:avLst>
            </a:prstGeom>
            <a:solidFill>
              <a:srgbClr val="FFF5D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2"/>
            <p:cNvSpPr txBox="1"/>
            <p:nvPr/>
          </p:nvSpPr>
          <p:spPr>
            <a:xfrm>
              <a:off x="6538844" y="3691249"/>
              <a:ext cx="151424" cy="195590"/>
            </a:xfrm>
            <a:prstGeom prst="rect">
              <a:avLst/>
            </a:prstGeom>
            <a:noFill/>
          </p:spPr>
          <p:txBody>
            <a:bodyPr wrap="none" lIns="12618" rIns="1261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35" b="1" lang="zh-CN">
                  <a:solidFill>
                    <a:srgbClr val="B96D05"/>
                  </a:solidFill>
                  <a:latin typeface="Microsoft YaHei"/>
                  <a:ea typeface="Microsoft YaHei"/>
                </a:rPr>
                <a:t>2</a:t>
              </a:r>
            </a:p>
          </p:txBody>
        </p:sp>
        <p:sp>
          <p:nvSpPr>
            <p:cNvPr id="47" name="UB 传输"/>
            <p:cNvSpPr txBox="1"/>
            <p:nvPr/>
          </p:nvSpPr>
          <p:spPr>
            <a:xfrm>
              <a:off x="6702887" y="3691249"/>
              <a:ext cx="656173" cy="195590"/>
            </a:xfrm>
            <a:prstGeom prst="rect">
              <a:avLst/>
            </a:prstGeom>
            <a:noFill/>
          </p:spPr>
          <p:txBody>
            <a:bodyPr wrap="none" lIns="12618" rIns="1261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>
                  <a:solidFill>
                    <a:srgbClr val="B96D05"/>
                  </a:solidFill>
                  <a:latin typeface="Microsoft YaHei"/>
                  <a:ea typeface="Microsoft YaHei"/>
                </a:rPr>
                <a:t>UB 传输</a:t>
              </a:r>
            </a:p>
          </p:txBody>
        </p:sp>
        <p:sp>
          <p:nvSpPr>
            <p:cNvPr id="48" name="UB 传输流程背景"/>
            <p:cNvSpPr/>
            <p:nvPr/>
          </p:nvSpPr>
          <p:spPr>
            <a:xfrm>
              <a:off x="7497866" y="3691249"/>
              <a:ext cx="4277746" cy="195590"/>
            </a:xfrm>
            <a:prstGeom prst="roundRect">
              <a:avLst>
                <a:gd name="adj" fmla="val 12000"/>
              </a:avLst>
            </a:prstGeom>
            <a:solidFill>
              <a:srgbClr val="FFF5DF"/>
            </a:solidFill>
            <a:ln w="7010">
              <a:solidFill>
                <a:srgbClr val="B4CFE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驱动 MemCopySync → URMA → Device 密文缓冲"/>
            <p:cNvSpPr txBox="1"/>
            <p:nvPr/>
          </p:nvSpPr>
          <p:spPr>
            <a:xfrm>
              <a:off x="7523104" y="3691249"/>
              <a:ext cx="4227271" cy="195590"/>
            </a:xfrm>
            <a:prstGeom prst="rect">
              <a:avLst/>
            </a:prstGeom>
            <a:noFill/>
          </p:spPr>
          <p:txBody>
            <a:bodyPr wrap="none" lIns="12618" rIns="1261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8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/>
              </a:r>
              <a:r>
                <a:rPr sz="1048" b="1" lang="zh-CN">
                  <a:solidFill>
                    <a:srgbClr val="B96D05"/>
                  </a:solidFill>
                  <a:latin typeface="Microsoft YaHei"/>
                  <a:ea typeface="Microsoft YaHei"/>
                </a:rPr>
                <a:t>驱动 MemCopySync</a:t>
              </a:r>
              <a:r>
                <a:rPr sz="1048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 → URMA → Device 密文缓冲</a:t>
              </a:r>
            </a:p>
          </p:txBody>
        </p:sp>
        <p:sp>
          <p:nvSpPr>
            <p:cNvPr id="50" name="密文搬运完成后发布 READY"/>
            <p:cNvSpPr txBox="1"/>
            <p:nvPr/>
          </p:nvSpPr>
          <p:spPr>
            <a:xfrm>
              <a:off x="7542032" y="3912077"/>
              <a:ext cx="3817162" cy="107259"/>
            </a:xfrm>
            <a:prstGeom prst="rect">
              <a:avLst/>
            </a:prstGeom>
            <a:noFill/>
          </p:spPr>
          <p:txBody>
            <a:bodyPr wrap="none" lIns="12618" rIns="12618" tIns="0" bIns="0" anchor="ctr">
              <a:spAutoFit/>
            </a:bodyPr>
            <a:lstStyle/>
            <a:p>
              <a:pPr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27" b="0" lang="zh-CN">
                  <a:solidFill>
                    <a:srgbClr val="63748A"/>
                  </a:solidFill>
                  <a:latin typeface="Microsoft YaHei"/>
                  <a:ea typeface="Microsoft YaHei"/>
                </a:rPr>
                <a:t>密文搬运完成后发布 READY</a:t>
              </a:r>
            </a:p>
          </p:txBody>
        </p:sp>
        <p:cxnSp>
          <p:nvCxnSpPr>
            <p:cNvPr id="51" name="连接箭头"/>
            <p:cNvCxnSpPr/>
            <p:nvPr/>
          </p:nvCxnSpPr>
          <p:spPr>
            <a:xfrm>
              <a:off x="11542166" y="3899458"/>
              <a:ext cx="0" cy="132497"/>
            </a:xfrm>
            <a:prstGeom prst="line">
              <a:avLst/>
            </a:prstGeom>
            <a:ln w="10515">
              <a:solidFill>
                <a:srgbClr val="0879D9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Device 侧步骤标签"/>
            <p:cNvSpPr/>
            <p:nvPr/>
          </p:nvSpPr>
          <p:spPr>
            <a:xfrm>
              <a:off x="6513606" y="4038264"/>
              <a:ext cx="883310" cy="195590"/>
            </a:xfrm>
            <a:prstGeom prst="roundRect">
              <a:avLst>
                <a:gd name="adj" fmla="val 12000"/>
              </a:avLst>
            </a:prstGeom>
            <a:solidFill>
              <a:srgbClr val="ECFA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3"/>
            <p:cNvSpPr txBox="1"/>
            <p:nvPr/>
          </p:nvSpPr>
          <p:spPr>
            <a:xfrm>
              <a:off x="6538844" y="4038264"/>
              <a:ext cx="151424" cy="195590"/>
            </a:xfrm>
            <a:prstGeom prst="rect">
              <a:avLst/>
            </a:prstGeom>
            <a:noFill/>
          </p:spPr>
          <p:txBody>
            <a:bodyPr wrap="none" lIns="12618" rIns="1261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35" b="1" lang="zh-CN">
                  <a:solidFill>
                    <a:srgbClr val="009BA3"/>
                  </a:solidFill>
                  <a:latin typeface="Microsoft YaHei"/>
                  <a:ea typeface="Microsoft YaHei"/>
                </a:rPr>
                <a:t>3</a:t>
              </a:r>
            </a:p>
          </p:txBody>
        </p:sp>
        <p:sp>
          <p:nvSpPr>
            <p:cNvPr id="54" name="Device 侧"/>
            <p:cNvSpPr txBox="1"/>
            <p:nvPr/>
          </p:nvSpPr>
          <p:spPr>
            <a:xfrm>
              <a:off x="6702887" y="4038264"/>
              <a:ext cx="656173" cy="195590"/>
            </a:xfrm>
            <a:prstGeom prst="rect">
              <a:avLst/>
            </a:prstGeom>
            <a:noFill/>
          </p:spPr>
          <p:txBody>
            <a:bodyPr wrap="none" lIns="12618" rIns="1261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>
                  <a:solidFill>
                    <a:srgbClr val="009BA3"/>
                  </a:solidFill>
                  <a:latin typeface="Microsoft YaHei"/>
                  <a:ea typeface="Microsoft YaHei"/>
                </a:rPr>
                <a:t>Device 侧</a:t>
              </a:r>
            </a:p>
          </p:txBody>
        </p:sp>
        <p:sp>
          <p:nvSpPr>
            <p:cNvPr id="55" name="Device 侧流程背景"/>
            <p:cNvSpPr/>
            <p:nvPr/>
          </p:nvSpPr>
          <p:spPr>
            <a:xfrm>
              <a:off x="7497866" y="4038264"/>
              <a:ext cx="4277746" cy="195590"/>
            </a:xfrm>
            <a:prstGeom prst="roundRect">
              <a:avLst>
                <a:gd name="adj" fmla="val 12000"/>
              </a:avLst>
            </a:prstGeom>
            <a:solidFill>
              <a:srgbClr val="ECFAF8"/>
            </a:solidFill>
            <a:ln w="7010">
              <a:solidFill>
                <a:srgbClr val="B4CFE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ValueWait 放行 → AICPU 解密 → 业务明文"/>
            <p:cNvSpPr txBox="1"/>
            <p:nvPr/>
          </p:nvSpPr>
          <p:spPr>
            <a:xfrm>
              <a:off x="7523104" y="4038264"/>
              <a:ext cx="4227271" cy="195590"/>
            </a:xfrm>
            <a:prstGeom prst="rect">
              <a:avLst/>
            </a:prstGeom>
            <a:noFill/>
          </p:spPr>
          <p:txBody>
            <a:bodyPr wrap="none" lIns="12618" rIns="1261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69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/>
              </a:r>
              <a:r>
                <a:rPr sz="1069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ValueWait 放行 → </a:t>
              </a:r>
              <a:r>
                <a:rPr sz="1069" b="1" lang="zh-CN">
                  <a:solidFill>
                    <a:srgbClr val="713BC0"/>
                  </a:solidFill>
                  <a:latin typeface="Microsoft YaHei"/>
                  <a:ea typeface="Microsoft YaHei"/>
                </a:rPr>
                <a:t>AICPU 解密</a:t>
              </a:r>
              <a:r>
                <a:rPr sz="1069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 → 业务明文</a:t>
              </a:r>
            </a:p>
          </p:txBody>
        </p:sp>
        <p:sp>
          <p:nvSpPr>
            <p:cNvPr id="57" name="D2H：Device 加密，Host 解密面板"/>
            <p:cNvSpPr/>
            <p:nvPr/>
          </p:nvSpPr>
          <p:spPr>
            <a:xfrm>
              <a:off x="6400038" y="4372660"/>
              <a:ext cx="5489143" cy="1009497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7010">
              <a:solidFill>
                <a:srgbClr val="009B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D2H：Device 加密，Host 解密标题底色"/>
            <p:cNvSpPr/>
            <p:nvPr/>
          </p:nvSpPr>
          <p:spPr>
            <a:xfrm>
              <a:off x="6400038" y="4372660"/>
              <a:ext cx="5489143" cy="195590"/>
            </a:xfrm>
            <a:prstGeom prst="roundRect">
              <a:avLst>
                <a:gd name="adj" fmla="val 12000"/>
              </a:avLst>
            </a:prstGeom>
            <a:solidFill>
              <a:srgbClr val="009BA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D2H：Device 加密，Host 解密"/>
            <p:cNvSpPr txBox="1"/>
            <p:nvPr/>
          </p:nvSpPr>
          <p:spPr>
            <a:xfrm>
              <a:off x="6513606" y="4375815"/>
              <a:ext cx="5262006" cy="179816"/>
            </a:xfrm>
            <a:prstGeom prst="rect">
              <a:avLst/>
            </a:prstGeom>
            <a:noFill/>
          </p:spPr>
          <p:txBody>
            <a:bodyPr wrap="none" lIns="12618" rIns="12618" tIns="0" bIns="0" anchor="ctr">
              <a:spAutoFit/>
            </a:bodyPr>
            <a:lstStyle/>
            <a:p>
              <a:pPr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7" b="1" lang="zh-CN">
                  <a:solidFill>
                    <a:srgbClr val="FFFFFF"/>
                  </a:solidFill>
                  <a:latin typeface="Microsoft YaHei"/>
                  <a:ea typeface="Microsoft YaHei"/>
                </a:rPr>
                <a:t>D2H：Device 加密，Host 解密</a:t>
              </a:r>
            </a:p>
          </p:txBody>
        </p:sp>
        <p:sp>
          <p:nvSpPr>
            <p:cNvPr id="60" name="Device 侧步骤标签"/>
            <p:cNvSpPr/>
            <p:nvPr/>
          </p:nvSpPr>
          <p:spPr>
            <a:xfrm>
              <a:off x="6513606" y="4625035"/>
              <a:ext cx="883310" cy="195590"/>
            </a:xfrm>
            <a:prstGeom prst="roundRect">
              <a:avLst>
                <a:gd name="adj" fmla="val 12000"/>
              </a:avLst>
            </a:prstGeom>
            <a:solidFill>
              <a:srgbClr val="ECFA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1"/>
            <p:cNvSpPr txBox="1"/>
            <p:nvPr/>
          </p:nvSpPr>
          <p:spPr>
            <a:xfrm>
              <a:off x="6538844" y="4625035"/>
              <a:ext cx="151424" cy="195590"/>
            </a:xfrm>
            <a:prstGeom prst="rect">
              <a:avLst/>
            </a:prstGeom>
            <a:noFill/>
          </p:spPr>
          <p:txBody>
            <a:bodyPr wrap="none" lIns="12618" rIns="1261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35" b="1" lang="zh-CN">
                  <a:solidFill>
                    <a:srgbClr val="009BA3"/>
                  </a:solidFill>
                  <a:latin typeface="Microsoft YaHei"/>
                  <a:ea typeface="Microsoft YaHei"/>
                </a:rPr>
                <a:t>1</a:t>
              </a:r>
            </a:p>
          </p:txBody>
        </p:sp>
        <p:sp>
          <p:nvSpPr>
            <p:cNvPr id="62" name="Device 侧"/>
            <p:cNvSpPr txBox="1"/>
            <p:nvPr/>
          </p:nvSpPr>
          <p:spPr>
            <a:xfrm>
              <a:off x="6702887" y="4625035"/>
              <a:ext cx="656173" cy="195590"/>
            </a:xfrm>
            <a:prstGeom prst="rect">
              <a:avLst/>
            </a:prstGeom>
            <a:noFill/>
          </p:spPr>
          <p:txBody>
            <a:bodyPr wrap="none" lIns="12618" rIns="1261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>
                  <a:solidFill>
                    <a:srgbClr val="009BA3"/>
                  </a:solidFill>
                  <a:latin typeface="Microsoft YaHei"/>
                  <a:ea typeface="Microsoft YaHei"/>
                </a:rPr>
                <a:t>Device 侧</a:t>
              </a:r>
            </a:p>
          </p:txBody>
        </p:sp>
        <p:sp>
          <p:nvSpPr>
            <p:cNvPr id="63" name="Device 侧流程背景"/>
            <p:cNvSpPr/>
            <p:nvPr/>
          </p:nvSpPr>
          <p:spPr>
            <a:xfrm>
              <a:off x="7497866" y="4625035"/>
              <a:ext cx="4277746" cy="195590"/>
            </a:xfrm>
            <a:prstGeom prst="roundRect">
              <a:avLst>
                <a:gd name="adj" fmla="val 12000"/>
              </a:avLst>
            </a:prstGeom>
            <a:solidFill>
              <a:srgbClr val="ECFAF8"/>
            </a:solidFill>
            <a:ln w="7010">
              <a:solidFill>
                <a:srgbClr val="B4CFE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业务明文 → AICPU 加密 → 密文缓冲"/>
            <p:cNvSpPr txBox="1"/>
            <p:nvPr/>
          </p:nvSpPr>
          <p:spPr>
            <a:xfrm>
              <a:off x="7523104" y="4625035"/>
              <a:ext cx="4227271" cy="195590"/>
            </a:xfrm>
            <a:prstGeom prst="rect">
              <a:avLst/>
            </a:prstGeom>
            <a:noFill/>
          </p:spPr>
          <p:txBody>
            <a:bodyPr wrap="none" lIns="12618" rIns="1261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69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/>
              </a:r>
              <a:r>
                <a:rPr sz="1069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业务明文 → </a:t>
              </a:r>
              <a:r>
                <a:rPr sz="1069" b="1" lang="zh-CN">
                  <a:solidFill>
                    <a:srgbClr val="713BC0"/>
                  </a:solidFill>
                  <a:latin typeface="Microsoft YaHei"/>
                  <a:ea typeface="Microsoft YaHei"/>
                </a:rPr>
                <a:t>AICPU 加密</a:t>
              </a:r>
              <a:r>
                <a:rPr sz="1069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 → 密文缓冲</a:t>
              </a:r>
            </a:p>
          </p:txBody>
        </p:sp>
        <p:cxnSp>
          <p:nvCxnSpPr>
            <p:cNvPr id="65" name="连接箭头"/>
            <p:cNvCxnSpPr/>
            <p:nvPr/>
          </p:nvCxnSpPr>
          <p:spPr>
            <a:xfrm>
              <a:off x="9636739" y="4826934"/>
              <a:ext cx="0" cy="50475"/>
            </a:xfrm>
            <a:prstGeom prst="line">
              <a:avLst/>
            </a:prstGeom>
            <a:ln w="14020">
              <a:solidFill>
                <a:srgbClr val="009BA3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UB 传输步骤标签"/>
            <p:cNvSpPr/>
            <p:nvPr/>
          </p:nvSpPr>
          <p:spPr>
            <a:xfrm>
              <a:off x="6513606" y="4883718"/>
              <a:ext cx="883310" cy="195590"/>
            </a:xfrm>
            <a:prstGeom prst="roundRect">
              <a:avLst>
                <a:gd name="adj" fmla="val 12000"/>
              </a:avLst>
            </a:prstGeom>
            <a:solidFill>
              <a:srgbClr val="FFF5D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2"/>
            <p:cNvSpPr txBox="1"/>
            <p:nvPr/>
          </p:nvSpPr>
          <p:spPr>
            <a:xfrm>
              <a:off x="6538844" y="4883718"/>
              <a:ext cx="151424" cy="195590"/>
            </a:xfrm>
            <a:prstGeom prst="rect">
              <a:avLst/>
            </a:prstGeom>
            <a:noFill/>
          </p:spPr>
          <p:txBody>
            <a:bodyPr wrap="none" lIns="12618" rIns="1261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35" b="1" lang="zh-CN">
                  <a:solidFill>
                    <a:srgbClr val="B96D05"/>
                  </a:solidFill>
                  <a:latin typeface="Microsoft YaHei"/>
                  <a:ea typeface="Microsoft YaHei"/>
                </a:rPr>
                <a:t>2</a:t>
              </a:r>
            </a:p>
          </p:txBody>
        </p:sp>
        <p:sp>
          <p:nvSpPr>
            <p:cNvPr id="68" name="UB 传输"/>
            <p:cNvSpPr txBox="1"/>
            <p:nvPr/>
          </p:nvSpPr>
          <p:spPr>
            <a:xfrm>
              <a:off x="6702887" y="4883718"/>
              <a:ext cx="656173" cy="195590"/>
            </a:xfrm>
            <a:prstGeom prst="rect">
              <a:avLst/>
            </a:prstGeom>
            <a:noFill/>
          </p:spPr>
          <p:txBody>
            <a:bodyPr wrap="none" lIns="12618" rIns="1261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>
                  <a:solidFill>
                    <a:srgbClr val="B96D05"/>
                  </a:solidFill>
                  <a:latin typeface="Microsoft YaHei"/>
                  <a:ea typeface="Microsoft YaHei"/>
                </a:rPr>
                <a:t>UB 传输</a:t>
              </a:r>
            </a:p>
          </p:txBody>
        </p:sp>
        <p:sp>
          <p:nvSpPr>
            <p:cNvPr id="69" name="UB 传输流程背景"/>
            <p:cNvSpPr/>
            <p:nvPr/>
          </p:nvSpPr>
          <p:spPr>
            <a:xfrm>
              <a:off x="7497866" y="4883718"/>
              <a:ext cx="4277746" cy="195590"/>
            </a:xfrm>
            <a:prstGeom prst="roundRect">
              <a:avLst>
                <a:gd name="adj" fmla="val 12000"/>
              </a:avLst>
            </a:prstGeom>
            <a:solidFill>
              <a:srgbClr val="FFF5DF"/>
            </a:solidFill>
            <a:ln w="7010">
              <a:solidFill>
                <a:srgbClr val="B4CFE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设备加密完成 → 驱动 / URMA → Host 密文缓冲"/>
            <p:cNvSpPr txBox="1"/>
            <p:nvPr/>
          </p:nvSpPr>
          <p:spPr>
            <a:xfrm>
              <a:off x="7523104" y="4883718"/>
              <a:ext cx="4227271" cy="195590"/>
            </a:xfrm>
            <a:prstGeom prst="rect">
              <a:avLst/>
            </a:prstGeom>
            <a:noFill/>
          </p:spPr>
          <p:txBody>
            <a:bodyPr wrap="none" lIns="12618" rIns="1261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8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/>
              </a:r>
              <a:r>
                <a:rPr sz="1048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设备加密完成 → </a:t>
              </a:r>
              <a:r>
                <a:rPr sz="1048" b="1" lang="zh-CN">
                  <a:solidFill>
                    <a:srgbClr val="B96D05"/>
                  </a:solidFill>
                  <a:latin typeface="Microsoft YaHei"/>
                  <a:ea typeface="Microsoft YaHei"/>
                </a:rPr>
                <a:t>驱动 / URMA</a:t>
              </a:r>
              <a:r>
                <a:rPr sz="1048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 → Host 密文缓冲</a:t>
              </a:r>
            </a:p>
          </p:txBody>
        </p:sp>
        <p:cxnSp>
          <p:nvCxnSpPr>
            <p:cNvPr id="71" name="连接箭头"/>
            <p:cNvCxnSpPr/>
            <p:nvPr/>
          </p:nvCxnSpPr>
          <p:spPr>
            <a:xfrm>
              <a:off x="9636739" y="5085618"/>
              <a:ext cx="0" cy="50475"/>
            </a:xfrm>
            <a:prstGeom prst="line">
              <a:avLst/>
            </a:prstGeom>
            <a:ln w="14020">
              <a:solidFill>
                <a:srgbClr val="009BA3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Host 侧步骤标签"/>
            <p:cNvSpPr/>
            <p:nvPr/>
          </p:nvSpPr>
          <p:spPr>
            <a:xfrm>
              <a:off x="6513606" y="5142402"/>
              <a:ext cx="883310" cy="195590"/>
            </a:xfrm>
            <a:prstGeom prst="roundRect">
              <a:avLst>
                <a:gd name="adj" fmla="val 12000"/>
              </a:avLst>
            </a:prstGeom>
            <a:solidFill>
              <a:srgbClr val="EEF6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3"/>
            <p:cNvSpPr txBox="1"/>
            <p:nvPr/>
          </p:nvSpPr>
          <p:spPr>
            <a:xfrm>
              <a:off x="6538844" y="5142402"/>
              <a:ext cx="151424" cy="195590"/>
            </a:xfrm>
            <a:prstGeom prst="rect">
              <a:avLst/>
            </a:prstGeom>
            <a:noFill/>
          </p:spPr>
          <p:txBody>
            <a:bodyPr wrap="none" lIns="12618" rIns="1261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35" b="1" lang="zh-CN">
                  <a:solidFill>
                    <a:srgbClr val="0879D9"/>
                  </a:solidFill>
                  <a:latin typeface="Microsoft YaHei"/>
                  <a:ea typeface="Microsoft YaHei"/>
                </a:rPr>
                <a:t>3</a:t>
              </a:r>
            </a:p>
          </p:txBody>
        </p:sp>
        <p:sp>
          <p:nvSpPr>
            <p:cNvPr id="74" name="Host 侧"/>
            <p:cNvSpPr txBox="1"/>
            <p:nvPr/>
          </p:nvSpPr>
          <p:spPr>
            <a:xfrm>
              <a:off x="6702887" y="5142402"/>
              <a:ext cx="656173" cy="195590"/>
            </a:xfrm>
            <a:prstGeom prst="rect">
              <a:avLst/>
            </a:prstGeom>
            <a:noFill/>
          </p:spPr>
          <p:txBody>
            <a:bodyPr wrap="none" lIns="12618" rIns="1261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lang="zh-CN">
                  <a:solidFill>
                    <a:srgbClr val="0879D9"/>
                  </a:solidFill>
                  <a:latin typeface="Microsoft YaHei"/>
                  <a:ea typeface="Microsoft YaHei"/>
                </a:rPr>
                <a:t>Host 侧</a:t>
              </a:r>
            </a:p>
          </p:txBody>
        </p:sp>
        <p:sp>
          <p:nvSpPr>
            <p:cNvPr id="75" name="Host 侧流程背景"/>
            <p:cNvSpPr/>
            <p:nvPr/>
          </p:nvSpPr>
          <p:spPr>
            <a:xfrm>
              <a:off x="7497866" y="5142402"/>
              <a:ext cx="4277746" cy="195590"/>
            </a:xfrm>
            <a:prstGeom prst="roundRect">
              <a:avLst>
                <a:gd name="adj" fmla="val 12000"/>
              </a:avLst>
            </a:prstGeom>
            <a:solidFill>
              <a:srgbClr val="EEF6FE"/>
            </a:solidFill>
            <a:ln w="7010">
              <a:solidFill>
                <a:srgbClr val="B4CFE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Host worker 解密 → 业务明文"/>
            <p:cNvSpPr txBox="1"/>
            <p:nvPr/>
          </p:nvSpPr>
          <p:spPr>
            <a:xfrm>
              <a:off x="7523104" y="5142402"/>
              <a:ext cx="4227271" cy="195590"/>
            </a:xfrm>
            <a:prstGeom prst="rect">
              <a:avLst/>
            </a:prstGeom>
            <a:noFill/>
          </p:spPr>
          <p:txBody>
            <a:bodyPr wrap="none" lIns="12618" rIns="1261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69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/>
              </a:r>
              <a:r>
                <a:rPr sz="1069" b="1" lang="zh-CN">
                  <a:solidFill>
                    <a:srgbClr val="713BC0"/>
                  </a:solidFill>
                  <a:latin typeface="Microsoft YaHei"/>
                  <a:ea typeface="Microsoft YaHei"/>
                </a:rPr>
                <a:t>Host worker 解密</a:t>
              </a:r>
              <a:r>
                <a:rPr sz="1069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 → 业务明文</a:t>
              </a:r>
            </a:p>
          </p:txBody>
        </p:sp>
        <p:sp>
          <p:nvSpPr>
            <p:cNvPr id="77" name="完成语义总结"/>
            <p:cNvSpPr/>
            <p:nvPr/>
          </p:nvSpPr>
          <p:spPr>
            <a:xfrm>
              <a:off x="6400038" y="5476798"/>
              <a:ext cx="5489143" cy="391180"/>
            </a:xfrm>
            <a:prstGeom prst="roundRect">
              <a:avLst>
                <a:gd name="adj" fmla="val 12000"/>
              </a:avLst>
            </a:prstGeom>
            <a:solidFill>
              <a:srgbClr val="EAF4FD"/>
            </a:solidFill>
            <a:ln w="7010">
              <a:solidFill>
                <a:srgbClr val="087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链路搬运密文；端侧处理明文"/>
            <p:cNvSpPr txBox="1"/>
            <p:nvPr/>
          </p:nvSpPr>
          <p:spPr>
            <a:xfrm>
              <a:off x="6494678" y="5495726"/>
              <a:ext cx="5299862" cy="164043"/>
            </a:xfrm>
            <a:prstGeom prst="rect">
              <a:avLst/>
            </a:prstGeom>
            <a:noFill/>
          </p:spPr>
          <p:txBody>
            <a:bodyPr wrap="none" lIns="12618" rIns="1261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7" b="1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链路搬运密文；端侧处理明文</a:t>
              </a:r>
            </a:p>
          </p:txBody>
        </p:sp>
        <p:sp>
          <p:nvSpPr>
            <p:cNvPr id="79" name="完成语义覆盖：加密 + 搬运 + 解密"/>
            <p:cNvSpPr txBox="1"/>
            <p:nvPr/>
          </p:nvSpPr>
          <p:spPr>
            <a:xfrm>
              <a:off x="6494678" y="5685007"/>
              <a:ext cx="5299862" cy="164043"/>
            </a:xfrm>
            <a:prstGeom prst="rect">
              <a:avLst/>
            </a:prstGeom>
            <a:noFill/>
          </p:spPr>
          <p:txBody>
            <a:bodyPr wrap="none" lIns="12618" rIns="1261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69" b="1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完成语义覆盖：加密 + 搬运 + 解密</a:t>
              </a:r>
            </a:p>
          </p:txBody>
        </p:sp>
        <p:sp>
          <p:nvSpPr>
            <p:cNvPr id="80" name="AES-256-CTR · 小拷贝整帧 / 大拷贝按片流水 · 加密路径启用时"/>
            <p:cNvSpPr txBox="1"/>
            <p:nvPr/>
          </p:nvSpPr>
          <p:spPr>
            <a:xfrm>
              <a:off x="6431585" y="5924763"/>
              <a:ext cx="5426049" cy="126187"/>
            </a:xfrm>
            <a:prstGeom prst="rect">
              <a:avLst/>
            </a:prstGeom>
            <a:noFill/>
          </p:spPr>
          <p:txBody>
            <a:bodyPr wrap="none" lIns="12618" rIns="12618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3" b="0" lang="zh-CN">
                  <a:solidFill>
                    <a:srgbClr val="63748A"/>
                  </a:solidFill>
                  <a:latin typeface="Microsoft YaHei"/>
                  <a:ea typeface="Microsoft YaHei"/>
                </a:rPr>
                <a:t>AES-256-CTR · 小拷贝整帧 / 大拷贝按片流水 · 加密路径启用时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CANN Runtime 加密拷贝：同步与异步（宽版）</dc:title>
  <dc:subject>Ascend 950 UB / iter-014，原生可编辑流程图</dc:subject>
  <dc:creator>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