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315200" cy="950976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图中所有文字、方框、流程箭头均为原生 PowerPoint 元素，可取消组合后编辑。</a:t>
            </a:r>
          </a:p>
          <a:p/>
          <a:p>
            <a:r>
              <a:t>技术范围：Ascend 950 / UB，runtime_enc 的 iter-014，加密路径启用时。</a:t>
            </a:r>
          </a:p>
          <a:p>
            <a:r>
              <a:t>Runtime HEAD: 9b9efba50；AICPU HEAD: 7fd3986。</a:t>
            </a:r>
          </a:p>
          <a:p>
            <a:r>
              <a:t>同步和异步都路由到 SecureDma；同步等待完整处理结束，异步提交后返回。</a:t>
            </a:r>
          </a:p>
          <a:p>
            <a:r>
              <a:t>密文搬运由 Host worker 通过 Driver::MemCopySync / UB 驱动 URMA 发起。</a:t>
            </a:r>
          </a:p>
          <a:p>
            <a:r>
              <a:t>STARS 调度 ValueWait 和 AICPU SecureDma；AICPU 负责设备侧加解密。</a:t>
            </a:r>
          </a:p>
          <a:p>
            <a:r>
              <a:t>H2D：Host 加密 -&gt; 密文搬运 -&gt; 发布 READY -&gt; AICPU 解密。</a:t>
            </a:r>
          </a:p>
          <a:p>
            <a:r>
              <a:t>D2H：AICPU 加密 -&gt; 完成 -&gt; 密文搬运 -&gt; Host 解密。</a:t>
            </a:r>
          </a:p>
          <a:p>
            <a:r>
              <a:t>Stream 同步通过 HostCompletion 纳入主机解密完成。</a:t>
            </a:r>
          </a:p>
          <a:p>
            <a:r>
              <a:t>算法是 AES-256-CTR，本图未声明 AEAD 或 MAC。</a:t>
            </a:r>
          </a:p>
          <a:p/>
          <a:p>
            <a:r>
              <a:t>源代码：</a:t>
            </a:r>
          </a:p>
          <a:p>
            <a:r>
              <a:t>/home/zlj/ub/runtime_enc/AscendCCv2-Runtime/src/runtime/core/src/memory/secure_dma/</a:t>
            </a:r>
          </a:p>
          <a:p>
            <a:r>
              <a:t>  secure_dma_engine.cc</a:t>
            </a:r>
          </a:p>
          <a:p>
            <a:r>
              <a:t>  secure_dma_whole_copy.cc</a:t>
            </a:r>
          </a:p>
          <a:p>
            <a:r>
              <a:t>  secure_dma_large_copy.cc</a:t>
            </a:r>
          </a:p>
          <a:p>
            <a:r>
              <a:t>  secure_dma_memory.cc</a:t>
            </a:r>
          </a:p>
          <a:p>
            <a:r>
              <a:t>  secure_dma_runtime.cc</a:t>
            </a:r>
          </a:p>
          <a:p>
            <a:r>
              <a:t>  secure_dma_aes_ctr.cc</a:t>
            </a:r>
          </a:p>
          <a:p>
            <a:r>
              <a:t>/home/zlj/ub/runtime_enc/AscendCCv2-Runtime/src/runtime/core/src/stream/stream.cc</a:t>
            </a:r>
          </a:p>
          <a:p>
            <a:r>
              <a:t>/home/zlj/ub/runtime_enc/AscendCCv2-AICPU/ms_kernels/src/secure_dma/secure_dma_whole_copy_device.inc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加密拷贝流程图（取消组合后逐项编辑）"/>
          <p:cNvGrpSpPr/>
          <p:nvPr/>
        </p:nvGrpSpPr>
        <p:grpSpPr>
          <a:xfrm>
            <a:off x="228600" y="109728"/>
            <a:ext cx="6858000" cy="9262872"/>
            <a:chOff x="228600" y="109728"/>
            <a:chExt cx="6858000" cy="9262872"/>
          </a:xfrm>
        </p:grpSpPr>
        <p:sp>
          <p:nvSpPr>
            <p:cNvPr id="3" name="加密拷贝：同步与异步"/>
            <p:cNvSpPr txBox="1"/>
            <p:nvPr/>
          </p:nvSpPr>
          <p:spPr>
            <a:xfrm>
              <a:off x="228600" y="109728"/>
              <a:ext cx="6858000" cy="438912"/>
            </a:xfrm>
            <a:prstGeom prst="rect">
              <a:avLst/>
            </a:prstGeom>
            <a:noFill/>
          </p:spPr>
          <p:txBody>
            <a:bodyPr wrap="none" lIns="18288" rIns="18288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900" b="1" lang="zh-CN">
                  <a:solidFill>
                    <a:srgbClr val="122448"/>
                  </a:solidFill>
                  <a:latin typeface="Microsoft YaHei"/>
                  <a:ea typeface="Microsoft YaHei"/>
                </a:rPr>
                <a:t>加密拷贝：同步与异步</a:t>
              </a:r>
            </a:p>
          </p:txBody>
        </p:sp>
        <p:sp>
          <p:nvSpPr>
            <p:cNvPr id="4" name="CANN Runtime · Ascend 950 / UB"/>
            <p:cNvSpPr txBox="1"/>
            <p:nvPr/>
          </p:nvSpPr>
          <p:spPr>
            <a:xfrm>
              <a:off x="228600" y="585216"/>
              <a:ext cx="6858000" cy="265176"/>
            </a:xfrm>
            <a:prstGeom prst="rect">
              <a:avLst/>
            </a:prstGeom>
            <a:noFill/>
          </p:spPr>
          <p:txBody>
            <a:bodyPr wrap="none" lIns="18288" rIns="18288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0" b="1" lang="zh-CN">
                  <a:solidFill>
                    <a:srgbClr val="122448"/>
                  </a:solidFill>
                  <a:latin typeface="Microsoft YaHei"/>
                  <a:ea typeface="Microsoft YaHei"/>
                </a:rPr>
                <a:t>CANN Runtime · Ascend 950 / UB</a:t>
              </a:r>
            </a:p>
          </p:txBody>
        </p:sp>
        <p:sp>
          <p:nvSpPr>
            <p:cNvPr id="5" name="实现版本"/>
            <p:cNvSpPr/>
            <p:nvPr/>
          </p:nvSpPr>
          <p:spPr>
            <a:xfrm>
              <a:off x="1234440" y="914400"/>
              <a:ext cx="4846320" cy="274320"/>
            </a:xfrm>
            <a:prstGeom prst="roundRect">
              <a:avLst>
                <a:gd name="adj" fmla="val 12000"/>
              </a:avLst>
            </a:prstGeom>
            <a:solidFill>
              <a:srgbClr val="EEF6F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untime_enc · iter-014 · 加密路径启用时"/>
            <p:cNvSpPr txBox="1"/>
            <p:nvPr/>
          </p:nvSpPr>
          <p:spPr>
            <a:xfrm>
              <a:off x="1252728" y="914400"/>
              <a:ext cx="4809744" cy="274320"/>
            </a:xfrm>
            <a:prstGeom prst="rect">
              <a:avLst/>
            </a:prstGeom>
            <a:noFill/>
          </p:spPr>
          <p:txBody>
            <a:bodyPr wrap="none" lIns="18288" rIns="18288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0" lang="zh-CN">
                  <a:solidFill>
                    <a:srgbClr val="122448"/>
                  </a:solidFill>
                  <a:latin typeface="Microsoft YaHei"/>
                  <a:ea typeface="Microsoft YaHei"/>
                </a:rPr>
                <a:t>runtime_enc · iter-014 · 加密路径启用时</a:t>
              </a:r>
            </a:p>
          </p:txBody>
        </p:sp>
        <p:sp>
          <p:nvSpPr>
            <p:cNvPr id="7" name="同步接口卡片"/>
            <p:cNvSpPr/>
            <p:nvPr/>
          </p:nvSpPr>
          <p:spPr>
            <a:xfrm>
              <a:off x="228600" y="1316736"/>
              <a:ext cx="3337560" cy="1069848"/>
            </a:xfrm>
            <a:prstGeom prst="roundRect">
              <a:avLst>
                <a:gd name="adj" fmla="val 12000"/>
              </a:avLst>
            </a:prstGeom>
            <a:solidFill>
              <a:srgbClr val="EEF6FE"/>
            </a:solidFill>
            <a:ln w="10160">
              <a:solidFill>
                <a:srgbClr val="087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同步接口标题底色"/>
            <p:cNvSpPr/>
            <p:nvPr/>
          </p:nvSpPr>
          <p:spPr>
            <a:xfrm>
              <a:off x="228600" y="1316736"/>
              <a:ext cx="3337560" cy="310896"/>
            </a:xfrm>
            <a:prstGeom prst="roundRect">
              <a:avLst>
                <a:gd name="adj" fmla="val 12000"/>
              </a:avLst>
            </a:prstGeom>
            <a:solidFill>
              <a:srgbClr val="087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同步接口"/>
            <p:cNvSpPr txBox="1"/>
            <p:nvPr/>
          </p:nvSpPr>
          <p:spPr>
            <a:xfrm>
              <a:off x="301752" y="1325880"/>
              <a:ext cx="3191256" cy="283464"/>
            </a:xfrm>
            <a:prstGeom prst="rect">
              <a:avLst/>
            </a:prstGeom>
            <a:noFill/>
          </p:spPr>
          <p:txBody>
            <a:bodyPr wrap="none" lIns="18288" rIns="18288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1" lang="zh-CN">
                  <a:solidFill>
                    <a:srgbClr val="FFFFFF"/>
                  </a:solidFill>
                  <a:latin typeface="Microsoft YaHei"/>
                  <a:ea typeface="Microsoft YaHei"/>
                </a:rPr>
                <a:t>同步接口</a:t>
              </a:r>
            </a:p>
          </p:txBody>
        </p:sp>
        <p:sp>
          <p:nvSpPr>
            <p:cNvPr id="10" name="aclrtMemcpy"/>
            <p:cNvSpPr txBox="1"/>
            <p:nvPr/>
          </p:nvSpPr>
          <p:spPr>
            <a:xfrm>
              <a:off x="301752" y="1700784"/>
              <a:ext cx="3191256" cy="256032"/>
            </a:xfrm>
            <a:prstGeom prst="rect">
              <a:avLst/>
            </a:prstGeom>
            <a:noFill/>
          </p:spPr>
          <p:txBody>
            <a:bodyPr wrap="none" lIns="18288" rIns="18288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0" b="1" lang="zh-CN">
                  <a:solidFill>
                    <a:srgbClr val="122448"/>
                  </a:solidFill>
                  <a:latin typeface="Microsoft YaHei"/>
                  <a:ea typeface="Microsoft YaHei"/>
                </a:rPr>
                <a:t>aclrtMemcpy</a:t>
              </a:r>
            </a:p>
          </p:txBody>
        </p:sp>
        <p:sp>
          <p:nvSpPr>
            <p:cNvPr id="11" name="整条加密链完成后返回"/>
            <p:cNvSpPr txBox="1"/>
            <p:nvPr/>
          </p:nvSpPr>
          <p:spPr>
            <a:xfrm>
              <a:off x="292608" y="2002536"/>
              <a:ext cx="3209544" cy="265176"/>
            </a:xfrm>
            <a:prstGeom prst="rect">
              <a:avLst/>
            </a:prstGeom>
            <a:noFill/>
          </p:spPr>
          <p:txBody>
            <a:bodyPr wrap="none" lIns="18288" rIns="18288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0" lang="zh-CN">
                  <a:solidFill>
                    <a:srgbClr val="122448"/>
                  </a:solidFill>
                  <a:latin typeface="Microsoft YaHei"/>
                  <a:ea typeface="Microsoft YaHei"/>
                </a:rPr>
                <a:t>整条加密链完成后返回</a:t>
              </a:r>
            </a:p>
          </p:txBody>
        </p:sp>
        <p:sp>
          <p:nvSpPr>
            <p:cNvPr id="12" name="异步接口卡片"/>
            <p:cNvSpPr/>
            <p:nvPr/>
          </p:nvSpPr>
          <p:spPr>
            <a:xfrm>
              <a:off x="3749039" y="1316736"/>
              <a:ext cx="3337560" cy="1069848"/>
            </a:xfrm>
            <a:prstGeom prst="roundRect">
              <a:avLst>
                <a:gd name="adj" fmla="val 12000"/>
              </a:avLst>
            </a:prstGeom>
            <a:solidFill>
              <a:srgbClr val="ECFAF8"/>
            </a:solidFill>
            <a:ln w="10160">
              <a:solidFill>
                <a:srgbClr val="009BA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异步接口标题底色"/>
            <p:cNvSpPr/>
            <p:nvPr/>
          </p:nvSpPr>
          <p:spPr>
            <a:xfrm>
              <a:off x="3749039" y="1316736"/>
              <a:ext cx="3337560" cy="310896"/>
            </a:xfrm>
            <a:prstGeom prst="roundRect">
              <a:avLst>
                <a:gd name="adj" fmla="val 12000"/>
              </a:avLst>
            </a:prstGeom>
            <a:solidFill>
              <a:srgbClr val="009BA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异步接口"/>
            <p:cNvSpPr txBox="1"/>
            <p:nvPr/>
          </p:nvSpPr>
          <p:spPr>
            <a:xfrm>
              <a:off x="3822191" y="1325880"/>
              <a:ext cx="3191256" cy="283464"/>
            </a:xfrm>
            <a:prstGeom prst="rect">
              <a:avLst/>
            </a:prstGeom>
            <a:noFill/>
          </p:spPr>
          <p:txBody>
            <a:bodyPr wrap="none" lIns="18288" rIns="18288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1" lang="zh-CN">
                  <a:solidFill>
                    <a:srgbClr val="FFFFFF"/>
                  </a:solidFill>
                  <a:latin typeface="Microsoft YaHei"/>
                  <a:ea typeface="Microsoft YaHei"/>
                </a:rPr>
                <a:t>异步接口</a:t>
              </a:r>
            </a:p>
          </p:txBody>
        </p:sp>
        <p:sp>
          <p:nvSpPr>
            <p:cNvPr id="15" name="aclrtMemcpyAsync"/>
            <p:cNvSpPr txBox="1"/>
            <p:nvPr/>
          </p:nvSpPr>
          <p:spPr>
            <a:xfrm>
              <a:off x="3822191" y="1700784"/>
              <a:ext cx="3191256" cy="256032"/>
            </a:xfrm>
            <a:prstGeom prst="rect">
              <a:avLst/>
            </a:prstGeom>
            <a:noFill/>
          </p:spPr>
          <p:txBody>
            <a:bodyPr wrap="none" lIns="18288" rIns="18288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0" b="1" lang="zh-CN">
                  <a:solidFill>
                    <a:srgbClr val="122448"/>
                  </a:solidFill>
                  <a:latin typeface="Microsoft YaHei"/>
                  <a:ea typeface="Microsoft YaHei"/>
                </a:rPr>
                <a:t>aclrtMemcpyAsync</a:t>
              </a:r>
            </a:p>
          </p:txBody>
        </p:sp>
        <p:sp>
          <p:nvSpPr>
            <p:cNvPr id="16" name="提交返回；流同步等待完成"/>
            <p:cNvSpPr txBox="1"/>
            <p:nvPr/>
          </p:nvSpPr>
          <p:spPr>
            <a:xfrm>
              <a:off x="3813048" y="2002536"/>
              <a:ext cx="3209544" cy="265176"/>
            </a:xfrm>
            <a:prstGeom prst="rect">
              <a:avLst/>
            </a:prstGeom>
            <a:noFill/>
          </p:spPr>
          <p:txBody>
            <a:bodyPr wrap="none" lIns="18288" rIns="18288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0" lang="zh-CN">
                  <a:solidFill>
                    <a:srgbClr val="122448"/>
                  </a:solidFill>
                  <a:latin typeface="Microsoft YaHei"/>
                  <a:ea typeface="Microsoft YaHei"/>
                </a:rPr>
                <a:t>提交返回；流同步等待完成</a:t>
              </a:r>
            </a:p>
          </p:txBody>
        </p:sp>
        <p:cxnSp>
          <p:nvCxnSpPr>
            <p:cNvPr id="17" name="连接箭头"/>
            <p:cNvCxnSpPr/>
            <p:nvPr/>
          </p:nvCxnSpPr>
          <p:spPr>
            <a:xfrm>
              <a:off x="1901952" y="2386584"/>
              <a:ext cx="0" cy="118872"/>
            </a:xfrm>
            <a:prstGeom prst="line">
              <a:avLst/>
            </a:prstGeom>
            <a:ln w="20320">
              <a:solidFill>
                <a:srgbClr val="087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连接箭头"/>
            <p:cNvCxnSpPr/>
            <p:nvPr/>
          </p:nvCxnSpPr>
          <p:spPr>
            <a:xfrm>
              <a:off x="5413248" y="2386584"/>
              <a:ext cx="0" cy="118872"/>
            </a:xfrm>
            <a:prstGeom prst="line">
              <a:avLst/>
            </a:prstGeom>
            <a:ln w="20320">
              <a:solidFill>
                <a:srgbClr val="087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连接箭头"/>
            <p:cNvCxnSpPr/>
            <p:nvPr/>
          </p:nvCxnSpPr>
          <p:spPr>
            <a:xfrm>
              <a:off x="1901952" y="2505456"/>
              <a:ext cx="3511296" cy="0"/>
            </a:xfrm>
            <a:prstGeom prst="line">
              <a:avLst/>
            </a:prstGeom>
            <a:ln w="20320">
              <a:solidFill>
                <a:srgbClr val="087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连接箭头"/>
            <p:cNvCxnSpPr/>
            <p:nvPr/>
          </p:nvCxnSpPr>
          <p:spPr>
            <a:xfrm>
              <a:off x="3657600" y="2505456"/>
              <a:ext cx="0" cy="128016"/>
            </a:xfrm>
            <a:prstGeom prst="line">
              <a:avLst/>
            </a:prstGeom>
            <a:ln w="20320">
              <a:solidFill>
                <a:srgbClr val="0879D9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共同安全执行路径"/>
            <p:cNvSpPr/>
            <p:nvPr/>
          </p:nvSpPr>
          <p:spPr>
            <a:xfrm>
              <a:off x="228600" y="2651760"/>
              <a:ext cx="6858000" cy="521207"/>
            </a:xfrm>
            <a:prstGeom prst="roundRect">
              <a:avLst>
                <a:gd name="adj" fmla="val 12000"/>
              </a:avLst>
            </a:prstGeom>
            <a:solidFill>
              <a:srgbClr val="EAF4FD"/>
            </a:solidFill>
            <a:ln w="10160">
              <a:solidFill>
                <a:srgbClr val="087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共同进入 SecureDma"/>
            <p:cNvSpPr txBox="1"/>
            <p:nvPr/>
          </p:nvSpPr>
          <p:spPr>
            <a:xfrm>
              <a:off x="320040" y="2679192"/>
              <a:ext cx="6675120" cy="237744"/>
            </a:xfrm>
            <a:prstGeom prst="rect">
              <a:avLst/>
            </a:prstGeom>
            <a:noFill/>
          </p:spPr>
          <p:txBody>
            <a:bodyPr wrap="none" lIns="18288" rIns="18288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 lang="zh-CN">
                  <a:solidFill>
                    <a:srgbClr val="122448"/>
                  </a:solidFill>
                  <a:latin typeface="Microsoft YaHei"/>
                  <a:ea typeface="Microsoft YaHei"/>
                </a:rPr>
                <a:t>共同进入 SecureDma</a:t>
              </a:r>
            </a:p>
          </p:txBody>
        </p:sp>
        <p:sp>
          <p:nvSpPr>
            <p:cNvPr id="23" name="Host worker 负责主机处理与密文搬运"/>
            <p:cNvSpPr txBox="1"/>
            <p:nvPr/>
          </p:nvSpPr>
          <p:spPr>
            <a:xfrm>
              <a:off x="320040" y="2926080"/>
              <a:ext cx="6675120" cy="182880"/>
            </a:xfrm>
            <a:prstGeom prst="rect">
              <a:avLst/>
            </a:prstGeom>
            <a:noFill/>
          </p:spPr>
          <p:txBody>
            <a:bodyPr wrap="none" lIns="18288" rIns="18288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0" lang="zh-CN">
                  <a:solidFill>
                    <a:srgbClr val="122448"/>
                  </a:solidFill>
                  <a:latin typeface="Microsoft YaHei"/>
                  <a:ea typeface="Microsoft YaHei"/>
                </a:rPr>
                <a:t>Host worker 负责主机处理与密文搬运</a:t>
              </a:r>
            </a:p>
          </p:txBody>
        </p:sp>
        <p:sp>
          <p:nvSpPr>
            <p:cNvPr id="24" name="设备控制路径"/>
            <p:cNvSpPr/>
            <p:nvPr/>
          </p:nvSpPr>
          <p:spPr>
            <a:xfrm>
              <a:off x="228600" y="3300984"/>
              <a:ext cx="6858000" cy="1389888"/>
            </a:xfrm>
            <a:prstGeom prst="roundRect">
              <a:avLst>
                <a:gd name="adj" fmla="val 12000"/>
              </a:avLst>
            </a:prstGeom>
            <a:solidFill>
              <a:srgbClr val="ECFAF8"/>
            </a:solidFill>
            <a:ln w="10160">
              <a:solidFill>
                <a:srgbClr val="009BA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控制路径标题底色"/>
            <p:cNvSpPr/>
            <p:nvPr/>
          </p:nvSpPr>
          <p:spPr>
            <a:xfrm>
              <a:off x="228600" y="3300984"/>
              <a:ext cx="6858000" cy="310896"/>
            </a:xfrm>
            <a:prstGeom prst="roundRect">
              <a:avLst>
                <a:gd name="adj" fmla="val 12000"/>
              </a:avLst>
            </a:prstGeom>
            <a:solidFill>
              <a:srgbClr val="009BA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设备流上的控制路径"/>
            <p:cNvSpPr txBox="1"/>
            <p:nvPr/>
          </p:nvSpPr>
          <p:spPr>
            <a:xfrm>
              <a:off x="320040" y="3310128"/>
              <a:ext cx="6675120" cy="283464"/>
            </a:xfrm>
            <a:prstGeom prst="rect">
              <a:avLst/>
            </a:prstGeom>
            <a:noFill/>
          </p:spPr>
          <p:txBody>
            <a:bodyPr wrap="none" lIns="18288" rIns="18288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1" lang="zh-CN">
                  <a:solidFill>
                    <a:srgbClr val="FFFFFF"/>
                  </a:solidFill>
                  <a:latin typeface="Microsoft YaHei"/>
                  <a:ea typeface="Microsoft YaHei"/>
                </a:rPr>
                <a:t>设备流上的控制路径</a:t>
              </a:r>
            </a:p>
          </p:txBody>
        </p:sp>
        <p:sp>
          <p:nvSpPr>
            <p:cNvPr id="27" name="Runtime 提交 SQE节点"/>
            <p:cNvSpPr/>
            <p:nvPr/>
          </p:nvSpPr>
          <p:spPr>
            <a:xfrm>
              <a:off x="914400" y="3703320"/>
              <a:ext cx="2468880" cy="292608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0160">
              <a:solidFill>
                <a:srgbClr val="009BA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Runtime 提交 SQE"/>
            <p:cNvSpPr txBox="1"/>
            <p:nvPr/>
          </p:nvSpPr>
          <p:spPr>
            <a:xfrm>
              <a:off x="941832" y="3703320"/>
              <a:ext cx="2414016" cy="292608"/>
            </a:xfrm>
            <a:prstGeom prst="rect">
              <a:avLst/>
            </a:prstGeom>
            <a:noFill/>
          </p:spPr>
          <p:txBody>
            <a:bodyPr wrap="none" lIns="18288" rIns="18288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 lang="zh-CN">
                  <a:solidFill>
                    <a:srgbClr val="122448"/>
                  </a:solidFill>
                  <a:latin typeface="Microsoft YaHei"/>
                  <a:ea typeface="Microsoft YaHei"/>
                </a:rPr>
                <a:t>Runtime 提交 SQE</a:t>
              </a:r>
            </a:p>
          </p:txBody>
        </p:sp>
        <p:sp>
          <p:nvSpPr>
            <p:cNvPr id="29" name="STARS 按流调度节点"/>
            <p:cNvSpPr/>
            <p:nvPr/>
          </p:nvSpPr>
          <p:spPr>
            <a:xfrm>
              <a:off x="3931920" y="3703320"/>
              <a:ext cx="2468880" cy="292608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0160">
              <a:solidFill>
                <a:srgbClr val="009BA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STARS 按流调度"/>
            <p:cNvSpPr txBox="1"/>
            <p:nvPr/>
          </p:nvSpPr>
          <p:spPr>
            <a:xfrm>
              <a:off x="3959352" y="3703320"/>
              <a:ext cx="2414016" cy="292608"/>
            </a:xfrm>
            <a:prstGeom prst="rect">
              <a:avLst/>
            </a:prstGeom>
            <a:noFill/>
          </p:spPr>
          <p:txBody>
            <a:bodyPr wrap="none" lIns="18288" rIns="18288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 lang="zh-CN">
                  <a:solidFill>
                    <a:srgbClr val="122448"/>
                  </a:solidFill>
                  <a:latin typeface="Microsoft YaHei"/>
                  <a:ea typeface="Microsoft YaHei"/>
                </a:rPr>
                <a:t>STARS 按流调度</a:t>
              </a:r>
            </a:p>
          </p:txBody>
        </p:sp>
        <p:sp>
          <p:nvSpPr>
            <p:cNvPr id="31" name="ValueWait(READY)节点"/>
            <p:cNvSpPr/>
            <p:nvPr/>
          </p:nvSpPr>
          <p:spPr>
            <a:xfrm>
              <a:off x="914400" y="4151376"/>
              <a:ext cx="2468880" cy="292608"/>
            </a:xfrm>
            <a:prstGeom prst="roundRect">
              <a:avLst>
                <a:gd name="adj" fmla="val 12000"/>
              </a:avLst>
            </a:prstGeom>
            <a:solidFill>
              <a:srgbClr val="F4EDFE"/>
            </a:solidFill>
            <a:ln w="10160">
              <a:solidFill>
                <a:srgbClr val="713BC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ValueWait(READY)"/>
            <p:cNvSpPr txBox="1"/>
            <p:nvPr/>
          </p:nvSpPr>
          <p:spPr>
            <a:xfrm>
              <a:off x="941832" y="4151376"/>
              <a:ext cx="2414016" cy="292608"/>
            </a:xfrm>
            <a:prstGeom prst="rect">
              <a:avLst/>
            </a:prstGeom>
            <a:noFill/>
          </p:spPr>
          <p:txBody>
            <a:bodyPr wrap="none" lIns="18288" rIns="18288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 lang="zh-CN">
                  <a:solidFill>
                    <a:srgbClr val="713BC0"/>
                  </a:solidFill>
                  <a:latin typeface="Microsoft YaHei"/>
                  <a:ea typeface="Microsoft YaHei"/>
                </a:rPr>
                <a:t>ValueWait(READY)</a:t>
              </a:r>
            </a:p>
          </p:txBody>
        </p:sp>
        <p:sp>
          <p:nvSpPr>
            <p:cNvPr id="33" name="AICPU SecureDma节点"/>
            <p:cNvSpPr/>
            <p:nvPr/>
          </p:nvSpPr>
          <p:spPr>
            <a:xfrm>
              <a:off x="3931920" y="4151376"/>
              <a:ext cx="2468880" cy="292608"/>
            </a:xfrm>
            <a:prstGeom prst="roundRect">
              <a:avLst>
                <a:gd name="adj" fmla="val 12000"/>
              </a:avLst>
            </a:prstGeom>
            <a:solidFill>
              <a:srgbClr val="F4EDFE"/>
            </a:solidFill>
            <a:ln w="10160">
              <a:solidFill>
                <a:srgbClr val="713BC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AICPU SecureDma"/>
            <p:cNvSpPr txBox="1"/>
            <p:nvPr/>
          </p:nvSpPr>
          <p:spPr>
            <a:xfrm>
              <a:off x="3959352" y="4151376"/>
              <a:ext cx="2414016" cy="292608"/>
            </a:xfrm>
            <a:prstGeom prst="rect">
              <a:avLst/>
            </a:prstGeom>
            <a:noFill/>
          </p:spPr>
          <p:txBody>
            <a:bodyPr wrap="none" lIns="18288" rIns="18288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 lang="zh-CN">
                  <a:solidFill>
                    <a:srgbClr val="713BC0"/>
                  </a:solidFill>
                  <a:latin typeface="Microsoft YaHei"/>
                  <a:ea typeface="Microsoft YaHei"/>
                </a:rPr>
                <a:t>AICPU SecureDma</a:t>
              </a:r>
            </a:p>
          </p:txBody>
        </p:sp>
        <p:cxnSp>
          <p:nvCxnSpPr>
            <p:cNvPr id="35" name="连接箭头"/>
            <p:cNvCxnSpPr/>
            <p:nvPr/>
          </p:nvCxnSpPr>
          <p:spPr>
            <a:xfrm>
              <a:off x="3401568" y="3849624"/>
              <a:ext cx="475488" cy="0"/>
            </a:xfrm>
            <a:prstGeom prst="line">
              <a:avLst/>
            </a:prstGeom>
            <a:ln w="20320">
              <a:solidFill>
                <a:srgbClr val="009BA3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连接箭头"/>
            <p:cNvCxnSpPr/>
            <p:nvPr/>
          </p:nvCxnSpPr>
          <p:spPr>
            <a:xfrm>
              <a:off x="5166360" y="4005072"/>
              <a:ext cx="0" cy="64008"/>
            </a:xfrm>
            <a:prstGeom prst="line">
              <a:avLst/>
            </a:prstGeom>
            <a:ln w="15240">
              <a:solidFill>
                <a:srgbClr val="009BA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连接箭头"/>
            <p:cNvCxnSpPr/>
            <p:nvPr/>
          </p:nvCxnSpPr>
          <p:spPr>
            <a:xfrm flipH="1">
              <a:off x="2148840" y="4069080"/>
              <a:ext cx="3017520" cy="0"/>
            </a:xfrm>
            <a:prstGeom prst="line">
              <a:avLst/>
            </a:prstGeom>
            <a:ln w="15240">
              <a:solidFill>
                <a:srgbClr val="009BA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连接箭头"/>
            <p:cNvCxnSpPr/>
            <p:nvPr/>
          </p:nvCxnSpPr>
          <p:spPr>
            <a:xfrm>
              <a:off x="2148840" y="4069080"/>
              <a:ext cx="0" cy="73152"/>
            </a:xfrm>
            <a:prstGeom prst="line">
              <a:avLst/>
            </a:prstGeom>
            <a:ln w="15240">
              <a:solidFill>
                <a:srgbClr val="009BA3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连接箭头"/>
            <p:cNvCxnSpPr/>
            <p:nvPr/>
          </p:nvCxnSpPr>
          <p:spPr>
            <a:xfrm>
              <a:off x="3401568" y="4297680"/>
              <a:ext cx="475488" cy="0"/>
            </a:xfrm>
            <a:prstGeom prst="line">
              <a:avLst/>
            </a:prstGeom>
            <a:ln w="20320">
              <a:solidFill>
                <a:srgbClr val="009BA3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STARS 调度任务，AICPU 执行加解密"/>
            <p:cNvSpPr txBox="1"/>
            <p:nvPr/>
          </p:nvSpPr>
          <p:spPr>
            <a:xfrm>
              <a:off x="365760" y="4489704"/>
              <a:ext cx="6583680" cy="155448"/>
            </a:xfrm>
            <a:prstGeom prst="rect">
              <a:avLst/>
            </a:prstGeom>
            <a:noFill/>
          </p:spPr>
          <p:txBody>
            <a:bodyPr wrap="none" lIns="18288" rIns="18288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 b="0" lang="zh-CN">
                  <a:solidFill>
                    <a:srgbClr val="122448"/>
                  </a:solidFill>
                  <a:latin typeface="Microsoft YaHei"/>
                  <a:ea typeface="Microsoft YaHei"/>
                </a:rPr>
                <a:t>STARS 调度任务，AICPU 执行加解密</a:t>
              </a:r>
            </a:p>
          </p:txBody>
        </p:sp>
        <p:sp>
          <p:nvSpPr>
            <p:cNvPr id="41" name="H2D：Host 加密，Device 解密面板"/>
            <p:cNvSpPr/>
            <p:nvPr/>
          </p:nvSpPr>
          <p:spPr>
            <a:xfrm>
              <a:off x="228600" y="4828032"/>
              <a:ext cx="6858000" cy="1728216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0160">
              <a:solidFill>
                <a:srgbClr val="087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H2D：Host 加密，Device 解密标题底色"/>
            <p:cNvSpPr/>
            <p:nvPr/>
          </p:nvSpPr>
          <p:spPr>
            <a:xfrm>
              <a:off x="228600" y="4828032"/>
              <a:ext cx="6858000" cy="329184"/>
            </a:xfrm>
            <a:prstGeom prst="roundRect">
              <a:avLst>
                <a:gd name="adj" fmla="val 12000"/>
              </a:avLst>
            </a:prstGeom>
            <a:solidFill>
              <a:srgbClr val="087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H2D：Host 加密，Device 解密"/>
            <p:cNvSpPr txBox="1"/>
            <p:nvPr/>
          </p:nvSpPr>
          <p:spPr>
            <a:xfrm>
              <a:off x="365760" y="4837176"/>
              <a:ext cx="6583680" cy="292608"/>
            </a:xfrm>
            <a:prstGeom prst="rect">
              <a:avLst/>
            </a:prstGeom>
            <a:noFill/>
          </p:spPr>
          <p:txBody>
            <a:bodyPr wrap="none" lIns="18288" rIns="18288" tIns="0" bIns="0" anchor="ctr">
              <a:spAutoFit/>
            </a:bodyPr>
            <a:lstStyle/>
            <a:p>
              <a:pPr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1" lang="zh-CN">
                  <a:solidFill>
                    <a:srgbClr val="FFFFFF"/>
                  </a:solidFill>
                  <a:latin typeface="Microsoft YaHei"/>
                  <a:ea typeface="Microsoft YaHei"/>
                </a:rPr>
                <a:t>H2D：Host 加密，Device 解密</a:t>
              </a:r>
            </a:p>
          </p:txBody>
        </p:sp>
        <p:sp>
          <p:nvSpPr>
            <p:cNvPr id="44" name="Host 侧步骤标签"/>
            <p:cNvSpPr/>
            <p:nvPr/>
          </p:nvSpPr>
          <p:spPr>
            <a:xfrm>
              <a:off x="365760" y="5230368"/>
              <a:ext cx="1243584" cy="310896"/>
            </a:xfrm>
            <a:prstGeom prst="roundRect">
              <a:avLst>
                <a:gd name="adj" fmla="val 12000"/>
              </a:avLst>
            </a:prstGeom>
            <a:solidFill>
              <a:srgbClr val="EEF6F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1"/>
            <p:cNvSpPr txBox="1"/>
            <p:nvPr/>
          </p:nvSpPr>
          <p:spPr>
            <a:xfrm>
              <a:off x="402336" y="5230368"/>
              <a:ext cx="219456" cy="310896"/>
            </a:xfrm>
            <a:prstGeom prst="rect">
              <a:avLst/>
            </a:prstGeom>
            <a:noFill/>
          </p:spPr>
          <p:txBody>
            <a:bodyPr wrap="none" lIns="18288" rIns="18288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 b="1" lang="zh-CN">
                  <a:solidFill>
                    <a:srgbClr val="0879D9"/>
                  </a:solidFill>
                  <a:latin typeface="Microsoft YaHei"/>
                  <a:ea typeface="Microsoft YaHei"/>
                </a:rPr>
                <a:t>1</a:t>
              </a:r>
            </a:p>
          </p:txBody>
        </p:sp>
        <p:sp>
          <p:nvSpPr>
            <p:cNvPr id="46" name="Host 侧"/>
            <p:cNvSpPr txBox="1"/>
            <p:nvPr/>
          </p:nvSpPr>
          <p:spPr>
            <a:xfrm>
              <a:off x="630936" y="5230368"/>
              <a:ext cx="914400" cy="310896"/>
            </a:xfrm>
            <a:prstGeom prst="rect">
              <a:avLst/>
            </a:prstGeom>
            <a:noFill/>
          </p:spPr>
          <p:txBody>
            <a:bodyPr wrap="none" lIns="18288" rIns="18288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50" b="1" lang="zh-CN">
                  <a:solidFill>
                    <a:srgbClr val="0879D9"/>
                  </a:solidFill>
                  <a:latin typeface="Microsoft YaHei"/>
                  <a:ea typeface="Microsoft YaHei"/>
                </a:rPr>
                <a:t>Host 侧</a:t>
              </a:r>
            </a:p>
          </p:txBody>
        </p:sp>
        <p:sp>
          <p:nvSpPr>
            <p:cNvPr id="47" name="Host 侧流程背景"/>
            <p:cNvSpPr/>
            <p:nvPr/>
          </p:nvSpPr>
          <p:spPr>
            <a:xfrm>
              <a:off x="1737360" y="5230368"/>
              <a:ext cx="5166360" cy="310896"/>
            </a:xfrm>
            <a:prstGeom prst="roundRect">
              <a:avLst>
                <a:gd name="adj" fmla="val 12000"/>
              </a:avLst>
            </a:prstGeom>
            <a:solidFill>
              <a:srgbClr val="EEF6FE"/>
            </a:solidFill>
            <a:ln w="10160">
              <a:solidFill>
                <a:srgbClr val="B4CFE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明文 → Host worker 加密 → 密文缓冲"/>
            <p:cNvSpPr txBox="1"/>
            <p:nvPr/>
          </p:nvSpPr>
          <p:spPr>
            <a:xfrm>
              <a:off x="1773936" y="5230368"/>
              <a:ext cx="5093208" cy="310896"/>
            </a:xfrm>
            <a:prstGeom prst="rect">
              <a:avLst/>
            </a:prstGeom>
            <a:noFill/>
          </p:spPr>
          <p:txBody>
            <a:bodyPr wrap="none" lIns="18288" rIns="18288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20" b="0" lang="zh-CN">
                  <a:solidFill>
                    <a:srgbClr val="122448"/>
                  </a:solidFill>
                  <a:latin typeface="Microsoft YaHei"/>
                  <a:ea typeface="Microsoft YaHei"/>
                </a:rPr>
                <a:t/>
              </a:r>
              <a:r>
                <a:rPr sz="1520" b="0" lang="zh-CN">
                  <a:solidFill>
                    <a:srgbClr val="122448"/>
                  </a:solidFill>
                  <a:latin typeface="Microsoft YaHei"/>
                  <a:ea typeface="Microsoft YaHei"/>
                </a:rPr>
                <a:t>明文 → </a:t>
              </a:r>
              <a:r>
                <a:rPr sz="1520" b="1" lang="zh-CN">
                  <a:solidFill>
                    <a:srgbClr val="713BC0"/>
                  </a:solidFill>
                  <a:latin typeface="Microsoft YaHei"/>
                  <a:ea typeface="Microsoft YaHei"/>
                </a:rPr>
                <a:t>Host worker 加密</a:t>
              </a:r>
              <a:r>
                <a:rPr sz="1520" b="0" lang="zh-CN">
                  <a:solidFill>
                    <a:srgbClr val="122448"/>
                  </a:solidFill>
                  <a:latin typeface="Microsoft YaHei"/>
                  <a:ea typeface="Microsoft YaHei"/>
                </a:rPr>
                <a:t> → 密文缓冲</a:t>
              </a:r>
            </a:p>
          </p:txBody>
        </p:sp>
        <p:cxnSp>
          <p:nvCxnSpPr>
            <p:cNvPr id="49" name="连接箭头"/>
            <p:cNvCxnSpPr/>
            <p:nvPr/>
          </p:nvCxnSpPr>
          <p:spPr>
            <a:xfrm>
              <a:off x="4325112" y="5550408"/>
              <a:ext cx="0" cy="91440"/>
            </a:xfrm>
            <a:prstGeom prst="line">
              <a:avLst/>
            </a:prstGeom>
            <a:ln w="20320">
              <a:solidFill>
                <a:srgbClr val="0879D9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UB 传输步骤标签"/>
            <p:cNvSpPr/>
            <p:nvPr/>
          </p:nvSpPr>
          <p:spPr>
            <a:xfrm>
              <a:off x="365760" y="5650992"/>
              <a:ext cx="1243584" cy="310896"/>
            </a:xfrm>
            <a:prstGeom prst="roundRect">
              <a:avLst>
                <a:gd name="adj" fmla="val 12000"/>
              </a:avLst>
            </a:prstGeom>
            <a:solidFill>
              <a:srgbClr val="FFF5D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2"/>
            <p:cNvSpPr txBox="1"/>
            <p:nvPr/>
          </p:nvSpPr>
          <p:spPr>
            <a:xfrm>
              <a:off x="402336" y="5650992"/>
              <a:ext cx="219456" cy="310896"/>
            </a:xfrm>
            <a:prstGeom prst="rect">
              <a:avLst/>
            </a:prstGeom>
            <a:noFill/>
          </p:spPr>
          <p:txBody>
            <a:bodyPr wrap="none" lIns="18288" rIns="18288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 b="1" lang="zh-CN">
                  <a:solidFill>
                    <a:srgbClr val="B96D05"/>
                  </a:solidFill>
                  <a:latin typeface="Microsoft YaHei"/>
                  <a:ea typeface="Microsoft YaHei"/>
                </a:rPr>
                <a:t>2</a:t>
              </a:r>
            </a:p>
          </p:txBody>
        </p:sp>
        <p:sp>
          <p:nvSpPr>
            <p:cNvPr id="52" name="UB 传输"/>
            <p:cNvSpPr txBox="1"/>
            <p:nvPr/>
          </p:nvSpPr>
          <p:spPr>
            <a:xfrm>
              <a:off x="630936" y="5650992"/>
              <a:ext cx="914400" cy="310896"/>
            </a:xfrm>
            <a:prstGeom prst="rect">
              <a:avLst/>
            </a:prstGeom>
            <a:noFill/>
          </p:spPr>
          <p:txBody>
            <a:bodyPr wrap="none" lIns="18288" rIns="18288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50" b="1" lang="zh-CN">
                  <a:solidFill>
                    <a:srgbClr val="B96D05"/>
                  </a:solidFill>
                  <a:latin typeface="Microsoft YaHei"/>
                  <a:ea typeface="Microsoft YaHei"/>
                </a:rPr>
                <a:t>UB 传输</a:t>
              </a:r>
            </a:p>
          </p:txBody>
        </p:sp>
        <p:sp>
          <p:nvSpPr>
            <p:cNvPr id="53" name="UB 传输流程背景"/>
            <p:cNvSpPr/>
            <p:nvPr/>
          </p:nvSpPr>
          <p:spPr>
            <a:xfrm>
              <a:off x="1737360" y="5650992"/>
              <a:ext cx="5166360" cy="310896"/>
            </a:xfrm>
            <a:prstGeom prst="roundRect">
              <a:avLst>
                <a:gd name="adj" fmla="val 12000"/>
              </a:avLst>
            </a:prstGeom>
            <a:solidFill>
              <a:srgbClr val="FFF5DF"/>
            </a:solidFill>
            <a:ln w="10160">
              <a:solidFill>
                <a:srgbClr val="B4CFE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MemCopySync → URMA → Device 密文"/>
            <p:cNvSpPr txBox="1"/>
            <p:nvPr/>
          </p:nvSpPr>
          <p:spPr>
            <a:xfrm>
              <a:off x="1773936" y="5650992"/>
              <a:ext cx="5093208" cy="310896"/>
            </a:xfrm>
            <a:prstGeom prst="rect">
              <a:avLst/>
            </a:prstGeom>
            <a:noFill/>
          </p:spPr>
          <p:txBody>
            <a:bodyPr wrap="none" lIns="18288" rIns="18288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 b="0" lang="zh-CN">
                  <a:solidFill>
                    <a:srgbClr val="122448"/>
                  </a:solidFill>
                  <a:latin typeface="Microsoft YaHei"/>
                  <a:ea typeface="Microsoft YaHei"/>
                </a:rPr>
                <a:t/>
              </a:r>
              <a:r>
                <a:rPr sz="1500" b="1" lang="zh-CN">
                  <a:solidFill>
                    <a:srgbClr val="B96D05"/>
                  </a:solidFill>
                  <a:latin typeface="Microsoft YaHei"/>
                  <a:ea typeface="Microsoft YaHei"/>
                </a:rPr>
                <a:t>MemCopySync</a:t>
              </a:r>
              <a:r>
                <a:rPr sz="1500" b="0" lang="zh-CN">
                  <a:solidFill>
                    <a:srgbClr val="122448"/>
                  </a:solidFill>
                  <a:latin typeface="Microsoft YaHei"/>
                  <a:ea typeface="Microsoft YaHei"/>
                </a:rPr>
                <a:t> → URMA → Device 密文</a:t>
              </a:r>
            </a:p>
          </p:txBody>
        </p:sp>
        <p:sp>
          <p:nvSpPr>
            <p:cNvPr id="55" name="密文搬运完成后发布 READY"/>
            <p:cNvSpPr txBox="1"/>
            <p:nvPr/>
          </p:nvSpPr>
          <p:spPr>
            <a:xfrm>
              <a:off x="1773936" y="5989320"/>
              <a:ext cx="4480560" cy="164592"/>
            </a:xfrm>
            <a:prstGeom prst="rect">
              <a:avLst/>
            </a:prstGeom>
            <a:noFill/>
          </p:spPr>
          <p:txBody>
            <a:bodyPr wrap="none" lIns="18288" rIns="18288" tIns="0" bIns="0" anchor="ctr">
              <a:spAutoFit/>
            </a:bodyPr>
            <a:lstStyle/>
            <a:p>
              <a:pPr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0" lang="zh-CN">
                  <a:solidFill>
                    <a:srgbClr val="63748A"/>
                  </a:solidFill>
                  <a:latin typeface="Microsoft YaHei"/>
                  <a:ea typeface="Microsoft YaHei"/>
                </a:rPr>
                <a:t>密文搬运完成后发布 READY</a:t>
              </a:r>
            </a:p>
          </p:txBody>
        </p:sp>
        <p:cxnSp>
          <p:nvCxnSpPr>
            <p:cNvPr id="56" name="连接箭头"/>
            <p:cNvCxnSpPr/>
            <p:nvPr/>
          </p:nvCxnSpPr>
          <p:spPr>
            <a:xfrm>
              <a:off x="6537960" y="5980176"/>
              <a:ext cx="0" cy="182880"/>
            </a:xfrm>
            <a:prstGeom prst="line">
              <a:avLst/>
            </a:prstGeom>
            <a:ln w="15240">
              <a:solidFill>
                <a:srgbClr val="0879D9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Device 侧步骤标签"/>
            <p:cNvSpPr/>
            <p:nvPr/>
          </p:nvSpPr>
          <p:spPr>
            <a:xfrm>
              <a:off x="365760" y="6172200"/>
              <a:ext cx="1243584" cy="310896"/>
            </a:xfrm>
            <a:prstGeom prst="roundRect">
              <a:avLst>
                <a:gd name="adj" fmla="val 12000"/>
              </a:avLst>
            </a:prstGeom>
            <a:solidFill>
              <a:srgbClr val="ECFAF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" name="3"/>
            <p:cNvSpPr txBox="1"/>
            <p:nvPr/>
          </p:nvSpPr>
          <p:spPr>
            <a:xfrm>
              <a:off x="402336" y="6172200"/>
              <a:ext cx="219456" cy="310896"/>
            </a:xfrm>
            <a:prstGeom prst="rect">
              <a:avLst/>
            </a:prstGeom>
            <a:noFill/>
          </p:spPr>
          <p:txBody>
            <a:bodyPr wrap="none" lIns="18288" rIns="18288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 b="1" lang="zh-CN">
                  <a:solidFill>
                    <a:srgbClr val="009BA3"/>
                  </a:solidFill>
                  <a:latin typeface="Microsoft YaHei"/>
                  <a:ea typeface="Microsoft YaHei"/>
                </a:rPr>
                <a:t>3</a:t>
              </a:r>
            </a:p>
          </p:txBody>
        </p:sp>
        <p:sp>
          <p:nvSpPr>
            <p:cNvPr id="59" name="Device 侧"/>
            <p:cNvSpPr txBox="1"/>
            <p:nvPr/>
          </p:nvSpPr>
          <p:spPr>
            <a:xfrm>
              <a:off x="630936" y="6172200"/>
              <a:ext cx="914400" cy="310896"/>
            </a:xfrm>
            <a:prstGeom prst="rect">
              <a:avLst/>
            </a:prstGeom>
            <a:noFill/>
          </p:spPr>
          <p:txBody>
            <a:bodyPr wrap="none" lIns="18288" rIns="18288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50" b="1" lang="zh-CN">
                  <a:solidFill>
                    <a:srgbClr val="009BA3"/>
                  </a:solidFill>
                  <a:latin typeface="Microsoft YaHei"/>
                  <a:ea typeface="Microsoft YaHei"/>
                </a:rPr>
                <a:t>Device 侧</a:t>
              </a:r>
            </a:p>
          </p:txBody>
        </p:sp>
        <p:sp>
          <p:nvSpPr>
            <p:cNvPr id="60" name="Device 侧流程背景"/>
            <p:cNvSpPr/>
            <p:nvPr/>
          </p:nvSpPr>
          <p:spPr>
            <a:xfrm>
              <a:off x="1737360" y="6172200"/>
              <a:ext cx="5166360" cy="310896"/>
            </a:xfrm>
            <a:prstGeom prst="roundRect">
              <a:avLst>
                <a:gd name="adj" fmla="val 12000"/>
              </a:avLst>
            </a:prstGeom>
            <a:solidFill>
              <a:srgbClr val="ECFAF8"/>
            </a:solidFill>
            <a:ln w="10160">
              <a:solidFill>
                <a:srgbClr val="B4CFE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ValueWait → AICPU 解密 → 明文"/>
            <p:cNvSpPr txBox="1"/>
            <p:nvPr/>
          </p:nvSpPr>
          <p:spPr>
            <a:xfrm>
              <a:off x="1773936" y="6172200"/>
              <a:ext cx="5093208" cy="310896"/>
            </a:xfrm>
            <a:prstGeom prst="rect">
              <a:avLst/>
            </a:prstGeom>
            <a:noFill/>
          </p:spPr>
          <p:txBody>
            <a:bodyPr wrap="none" lIns="18288" rIns="18288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20" b="0" lang="zh-CN">
                  <a:solidFill>
                    <a:srgbClr val="122448"/>
                  </a:solidFill>
                  <a:latin typeface="Microsoft YaHei"/>
                  <a:ea typeface="Microsoft YaHei"/>
                </a:rPr>
                <a:t/>
              </a:r>
              <a:r>
                <a:rPr sz="1520" b="0" lang="zh-CN">
                  <a:solidFill>
                    <a:srgbClr val="122448"/>
                  </a:solidFill>
                  <a:latin typeface="Microsoft YaHei"/>
                  <a:ea typeface="Microsoft YaHei"/>
                </a:rPr>
                <a:t>ValueWait → </a:t>
              </a:r>
              <a:r>
                <a:rPr sz="1520" b="1" lang="zh-CN">
                  <a:solidFill>
                    <a:srgbClr val="713BC0"/>
                  </a:solidFill>
                  <a:latin typeface="Microsoft YaHei"/>
                  <a:ea typeface="Microsoft YaHei"/>
                </a:rPr>
                <a:t>AICPU 解密</a:t>
              </a:r>
              <a:r>
                <a:rPr sz="1520" b="0" lang="zh-CN">
                  <a:solidFill>
                    <a:srgbClr val="122448"/>
                  </a:solidFill>
                  <a:latin typeface="Microsoft YaHei"/>
                  <a:ea typeface="Microsoft YaHei"/>
                </a:rPr>
                <a:t> → 明文</a:t>
              </a:r>
            </a:p>
          </p:txBody>
        </p:sp>
        <p:sp>
          <p:nvSpPr>
            <p:cNvPr id="62" name="D2H：Device 加密，Host 解密面板"/>
            <p:cNvSpPr/>
            <p:nvPr/>
          </p:nvSpPr>
          <p:spPr>
            <a:xfrm>
              <a:off x="228600" y="6665976"/>
              <a:ext cx="6858000" cy="16002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0160">
              <a:solidFill>
                <a:srgbClr val="009BA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D2H：Device 加密，Host 解密标题底色"/>
            <p:cNvSpPr/>
            <p:nvPr/>
          </p:nvSpPr>
          <p:spPr>
            <a:xfrm>
              <a:off x="228600" y="6665976"/>
              <a:ext cx="6858000" cy="329184"/>
            </a:xfrm>
            <a:prstGeom prst="roundRect">
              <a:avLst>
                <a:gd name="adj" fmla="val 12000"/>
              </a:avLst>
            </a:prstGeom>
            <a:solidFill>
              <a:srgbClr val="009BA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" name="D2H：Device 加密，Host 解密"/>
            <p:cNvSpPr txBox="1"/>
            <p:nvPr/>
          </p:nvSpPr>
          <p:spPr>
            <a:xfrm>
              <a:off x="365760" y="6675120"/>
              <a:ext cx="6583680" cy="292608"/>
            </a:xfrm>
            <a:prstGeom prst="rect">
              <a:avLst/>
            </a:prstGeom>
            <a:noFill/>
          </p:spPr>
          <p:txBody>
            <a:bodyPr wrap="none" lIns="18288" rIns="18288" tIns="0" bIns="0" anchor="ctr">
              <a:spAutoFit/>
            </a:bodyPr>
            <a:lstStyle/>
            <a:p>
              <a:pPr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1" lang="zh-CN">
                  <a:solidFill>
                    <a:srgbClr val="FFFFFF"/>
                  </a:solidFill>
                  <a:latin typeface="Microsoft YaHei"/>
                  <a:ea typeface="Microsoft YaHei"/>
                </a:rPr>
                <a:t>D2H：Device 加密，Host 解密</a:t>
              </a:r>
            </a:p>
          </p:txBody>
        </p:sp>
        <p:sp>
          <p:nvSpPr>
            <p:cNvPr id="65" name="Device 侧步骤标签"/>
            <p:cNvSpPr/>
            <p:nvPr/>
          </p:nvSpPr>
          <p:spPr>
            <a:xfrm>
              <a:off x="365760" y="7068312"/>
              <a:ext cx="1243584" cy="310896"/>
            </a:xfrm>
            <a:prstGeom prst="roundRect">
              <a:avLst>
                <a:gd name="adj" fmla="val 12000"/>
              </a:avLst>
            </a:prstGeom>
            <a:solidFill>
              <a:srgbClr val="ECFAF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" name="1"/>
            <p:cNvSpPr txBox="1"/>
            <p:nvPr/>
          </p:nvSpPr>
          <p:spPr>
            <a:xfrm>
              <a:off x="402336" y="7068312"/>
              <a:ext cx="219456" cy="310896"/>
            </a:xfrm>
            <a:prstGeom prst="rect">
              <a:avLst/>
            </a:prstGeom>
            <a:noFill/>
          </p:spPr>
          <p:txBody>
            <a:bodyPr wrap="none" lIns="18288" rIns="18288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 b="1" lang="zh-CN">
                  <a:solidFill>
                    <a:srgbClr val="009BA3"/>
                  </a:solidFill>
                  <a:latin typeface="Microsoft YaHei"/>
                  <a:ea typeface="Microsoft YaHei"/>
                </a:rPr>
                <a:t>1</a:t>
              </a:r>
            </a:p>
          </p:txBody>
        </p:sp>
        <p:sp>
          <p:nvSpPr>
            <p:cNvPr id="67" name="Device 侧"/>
            <p:cNvSpPr txBox="1"/>
            <p:nvPr/>
          </p:nvSpPr>
          <p:spPr>
            <a:xfrm>
              <a:off x="630936" y="7068312"/>
              <a:ext cx="914400" cy="310896"/>
            </a:xfrm>
            <a:prstGeom prst="rect">
              <a:avLst/>
            </a:prstGeom>
            <a:noFill/>
          </p:spPr>
          <p:txBody>
            <a:bodyPr wrap="none" lIns="18288" rIns="18288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50" b="1" lang="zh-CN">
                  <a:solidFill>
                    <a:srgbClr val="009BA3"/>
                  </a:solidFill>
                  <a:latin typeface="Microsoft YaHei"/>
                  <a:ea typeface="Microsoft YaHei"/>
                </a:rPr>
                <a:t>Device 侧</a:t>
              </a:r>
            </a:p>
          </p:txBody>
        </p:sp>
        <p:sp>
          <p:nvSpPr>
            <p:cNvPr id="68" name="Device 侧流程背景"/>
            <p:cNvSpPr/>
            <p:nvPr/>
          </p:nvSpPr>
          <p:spPr>
            <a:xfrm>
              <a:off x="1737360" y="7068312"/>
              <a:ext cx="5166360" cy="310896"/>
            </a:xfrm>
            <a:prstGeom prst="roundRect">
              <a:avLst>
                <a:gd name="adj" fmla="val 12000"/>
              </a:avLst>
            </a:prstGeom>
            <a:solidFill>
              <a:srgbClr val="ECFAF8"/>
            </a:solidFill>
            <a:ln w="10160">
              <a:solidFill>
                <a:srgbClr val="B4CFE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明文 → AICPU 加密 → 密文缓冲"/>
            <p:cNvSpPr txBox="1"/>
            <p:nvPr/>
          </p:nvSpPr>
          <p:spPr>
            <a:xfrm>
              <a:off x="1773936" y="7068312"/>
              <a:ext cx="5093208" cy="310896"/>
            </a:xfrm>
            <a:prstGeom prst="rect">
              <a:avLst/>
            </a:prstGeom>
            <a:noFill/>
          </p:spPr>
          <p:txBody>
            <a:bodyPr wrap="none" lIns="18288" rIns="18288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20" b="0" lang="zh-CN">
                  <a:solidFill>
                    <a:srgbClr val="122448"/>
                  </a:solidFill>
                  <a:latin typeface="Microsoft YaHei"/>
                  <a:ea typeface="Microsoft YaHei"/>
                </a:rPr>
                <a:t/>
              </a:r>
              <a:r>
                <a:rPr sz="1520" b="0" lang="zh-CN">
                  <a:solidFill>
                    <a:srgbClr val="122448"/>
                  </a:solidFill>
                  <a:latin typeface="Microsoft YaHei"/>
                  <a:ea typeface="Microsoft YaHei"/>
                </a:rPr>
                <a:t>明文 → </a:t>
              </a:r>
              <a:r>
                <a:rPr sz="1520" b="1" lang="zh-CN">
                  <a:solidFill>
                    <a:srgbClr val="713BC0"/>
                  </a:solidFill>
                  <a:latin typeface="Microsoft YaHei"/>
                  <a:ea typeface="Microsoft YaHei"/>
                </a:rPr>
                <a:t>AICPU 加密</a:t>
              </a:r>
              <a:r>
                <a:rPr sz="1520" b="0" lang="zh-CN">
                  <a:solidFill>
                    <a:srgbClr val="122448"/>
                  </a:solidFill>
                  <a:latin typeface="Microsoft YaHei"/>
                  <a:ea typeface="Microsoft YaHei"/>
                </a:rPr>
                <a:t> → 密文缓冲</a:t>
              </a:r>
            </a:p>
          </p:txBody>
        </p:sp>
        <p:cxnSp>
          <p:nvCxnSpPr>
            <p:cNvPr id="70" name="连接箭头"/>
            <p:cNvCxnSpPr/>
            <p:nvPr/>
          </p:nvCxnSpPr>
          <p:spPr>
            <a:xfrm>
              <a:off x="4325112" y="7388352"/>
              <a:ext cx="0" cy="91440"/>
            </a:xfrm>
            <a:prstGeom prst="line">
              <a:avLst/>
            </a:prstGeom>
            <a:ln w="20320">
              <a:solidFill>
                <a:srgbClr val="009BA3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UB 传输步骤标签"/>
            <p:cNvSpPr/>
            <p:nvPr/>
          </p:nvSpPr>
          <p:spPr>
            <a:xfrm>
              <a:off x="365760" y="7488936"/>
              <a:ext cx="1243584" cy="310896"/>
            </a:xfrm>
            <a:prstGeom prst="roundRect">
              <a:avLst>
                <a:gd name="adj" fmla="val 12000"/>
              </a:avLst>
            </a:prstGeom>
            <a:solidFill>
              <a:srgbClr val="FFF5D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" name="2"/>
            <p:cNvSpPr txBox="1"/>
            <p:nvPr/>
          </p:nvSpPr>
          <p:spPr>
            <a:xfrm>
              <a:off x="402336" y="7488936"/>
              <a:ext cx="219456" cy="310896"/>
            </a:xfrm>
            <a:prstGeom prst="rect">
              <a:avLst/>
            </a:prstGeom>
            <a:noFill/>
          </p:spPr>
          <p:txBody>
            <a:bodyPr wrap="none" lIns="18288" rIns="18288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 b="1" lang="zh-CN">
                  <a:solidFill>
                    <a:srgbClr val="B96D05"/>
                  </a:solidFill>
                  <a:latin typeface="Microsoft YaHei"/>
                  <a:ea typeface="Microsoft YaHei"/>
                </a:rPr>
                <a:t>2</a:t>
              </a:r>
            </a:p>
          </p:txBody>
        </p:sp>
        <p:sp>
          <p:nvSpPr>
            <p:cNvPr id="73" name="UB 传输"/>
            <p:cNvSpPr txBox="1"/>
            <p:nvPr/>
          </p:nvSpPr>
          <p:spPr>
            <a:xfrm>
              <a:off x="630936" y="7488936"/>
              <a:ext cx="914400" cy="310896"/>
            </a:xfrm>
            <a:prstGeom prst="rect">
              <a:avLst/>
            </a:prstGeom>
            <a:noFill/>
          </p:spPr>
          <p:txBody>
            <a:bodyPr wrap="none" lIns="18288" rIns="18288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50" b="1" lang="zh-CN">
                  <a:solidFill>
                    <a:srgbClr val="B96D05"/>
                  </a:solidFill>
                  <a:latin typeface="Microsoft YaHei"/>
                  <a:ea typeface="Microsoft YaHei"/>
                </a:rPr>
                <a:t>UB 传输</a:t>
              </a:r>
            </a:p>
          </p:txBody>
        </p:sp>
        <p:sp>
          <p:nvSpPr>
            <p:cNvPr id="74" name="UB 传输流程背景"/>
            <p:cNvSpPr/>
            <p:nvPr/>
          </p:nvSpPr>
          <p:spPr>
            <a:xfrm>
              <a:off x="1737360" y="7488936"/>
              <a:ext cx="5166360" cy="310896"/>
            </a:xfrm>
            <a:prstGeom prst="roundRect">
              <a:avLst>
                <a:gd name="adj" fmla="val 12000"/>
              </a:avLst>
            </a:prstGeom>
            <a:solidFill>
              <a:srgbClr val="FFF5DF"/>
            </a:solidFill>
            <a:ln w="10160">
              <a:solidFill>
                <a:srgbClr val="B4CFE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加密完成 → 驱动 / URMA → Host 密文"/>
            <p:cNvSpPr txBox="1"/>
            <p:nvPr/>
          </p:nvSpPr>
          <p:spPr>
            <a:xfrm>
              <a:off x="1773936" y="7488936"/>
              <a:ext cx="5093208" cy="310896"/>
            </a:xfrm>
            <a:prstGeom prst="rect">
              <a:avLst/>
            </a:prstGeom>
            <a:noFill/>
          </p:spPr>
          <p:txBody>
            <a:bodyPr wrap="none" lIns="18288" rIns="18288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80" b="0" lang="zh-CN">
                  <a:solidFill>
                    <a:srgbClr val="122448"/>
                  </a:solidFill>
                  <a:latin typeface="Microsoft YaHei"/>
                  <a:ea typeface="Microsoft YaHei"/>
                </a:rPr>
                <a:t/>
              </a:r>
              <a:r>
                <a:rPr sz="1480" b="0" lang="zh-CN">
                  <a:solidFill>
                    <a:srgbClr val="122448"/>
                  </a:solidFill>
                  <a:latin typeface="Microsoft YaHei"/>
                  <a:ea typeface="Microsoft YaHei"/>
                </a:rPr>
                <a:t>加密完成 → </a:t>
              </a:r>
              <a:r>
                <a:rPr sz="1480" b="1" lang="zh-CN">
                  <a:solidFill>
                    <a:srgbClr val="B96D05"/>
                  </a:solidFill>
                  <a:latin typeface="Microsoft YaHei"/>
                  <a:ea typeface="Microsoft YaHei"/>
                </a:rPr>
                <a:t>驱动 / URMA</a:t>
              </a:r>
              <a:r>
                <a:rPr sz="1480" b="0" lang="zh-CN">
                  <a:solidFill>
                    <a:srgbClr val="122448"/>
                  </a:solidFill>
                  <a:latin typeface="Microsoft YaHei"/>
                  <a:ea typeface="Microsoft YaHei"/>
                </a:rPr>
                <a:t> → Host 密文</a:t>
              </a:r>
            </a:p>
          </p:txBody>
        </p:sp>
        <p:cxnSp>
          <p:nvCxnSpPr>
            <p:cNvPr id="76" name="连接箭头"/>
            <p:cNvCxnSpPr/>
            <p:nvPr/>
          </p:nvCxnSpPr>
          <p:spPr>
            <a:xfrm>
              <a:off x="4325112" y="7808975"/>
              <a:ext cx="0" cy="91441"/>
            </a:xfrm>
            <a:prstGeom prst="line">
              <a:avLst/>
            </a:prstGeom>
            <a:ln w="20320">
              <a:solidFill>
                <a:srgbClr val="009BA3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Host 侧步骤标签"/>
            <p:cNvSpPr/>
            <p:nvPr/>
          </p:nvSpPr>
          <p:spPr>
            <a:xfrm>
              <a:off x="365760" y="7909560"/>
              <a:ext cx="1243584" cy="310896"/>
            </a:xfrm>
            <a:prstGeom prst="roundRect">
              <a:avLst>
                <a:gd name="adj" fmla="val 12000"/>
              </a:avLst>
            </a:prstGeom>
            <a:solidFill>
              <a:srgbClr val="EEF6F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" name="3"/>
            <p:cNvSpPr txBox="1"/>
            <p:nvPr/>
          </p:nvSpPr>
          <p:spPr>
            <a:xfrm>
              <a:off x="402336" y="7909560"/>
              <a:ext cx="219456" cy="310896"/>
            </a:xfrm>
            <a:prstGeom prst="rect">
              <a:avLst/>
            </a:prstGeom>
            <a:noFill/>
          </p:spPr>
          <p:txBody>
            <a:bodyPr wrap="none" lIns="18288" rIns="18288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 b="1" lang="zh-CN">
                  <a:solidFill>
                    <a:srgbClr val="0879D9"/>
                  </a:solidFill>
                  <a:latin typeface="Microsoft YaHei"/>
                  <a:ea typeface="Microsoft YaHei"/>
                </a:rPr>
                <a:t>3</a:t>
              </a:r>
            </a:p>
          </p:txBody>
        </p:sp>
        <p:sp>
          <p:nvSpPr>
            <p:cNvPr id="79" name="Host 侧"/>
            <p:cNvSpPr txBox="1"/>
            <p:nvPr/>
          </p:nvSpPr>
          <p:spPr>
            <a:xfrm>
              <a:off x="630936" y="7909560"/>
              <a:ext cx="914400" cy="310896"/>
            </a:xfrm>
            <a:prstGeom prst="rect">
              <a:avLst/>
            </a:prstGeom>
            <a:noFill/>
          </p:spPr>
          <p:txBody>
            <a:bodyPr wrap="none" lIns="18288" rIns="18288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50" b="1" lang="zh-CN">
                  <a:solidFill>
                    <a:srgbClr val="0879D9"/>
                  </a:solidFill>
                  <a:latin typeface="Microsoft YaHei"/>
                  <a:ea typeface="Microsoft YaHei"/>
                </a:rPr>
                <a:t>Host 侧</a:t>
              </a:r>
            </a:p>
          </p:txBody>
        </p:sp>
        <p:sp>
          <p:nvSpPr>
            <p:cNvPr id="80" name="Host 侧流程背景"/>
            <p:cNvSpPr/>
            <p:nvPr/>
          </p:nvSpPr>
          <p:spPr>
            <a:xfrm>
              <a:off x="1737360" y="7909560"/>
              <a:ext cx="5166360" cy="310896"/>
            </a:xfrm>
            <a:prstGeom prst="roundRect">
              <a:avLst>
                <a:gd name="adj" fmla="val 12000"/>
              </a:avLst>
            </a:prstGeom>
            <a:solidFill>
              <a:srgbClr val="EEF6FE"/>
            </a:solidFill>
            <a:ln w="10160">
              <a:solidFill>
                <a:srgbClr val="B4CFE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1" name="Host worker 解密 → 业务明文"/>
            <p:cNvSpPr txBox="1"/>
            <p:nvPr/>
          </p:nvSpPr>
          <p:spPr>
            <a:xfrm>
              <a:off x="1773936" y="7909560"/>
              <a:ext cx="5093208" cy="310896"/>
            </a:xfrm>
            <a:prstGeom prst="rect">
              <a:avLst/>
            </a:prstGeom>
            <a:noFill/>
          </p:spPr>
          <p:txBody>
            <a:bodyPr wrap="none" lIns="18288" rIns="18288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20" b="0" lang="zh-CN">
                  <a:solidFill>
                    <a:srgbClr val="122448"/>
                  </a:solidFill>
                  <a:latin typeface="Microsoft YaHei"/>
                  <a:ea typeface="Microsoft YaHei"/>
                </a:rPr>
                <a:t/>
              </a:r>
              <a:r>
                <a:rPr sz="1520" b="1" lang="zh-CN">
                  <a:solidFill>
                    <a:srgbClr val="713BC0"/>
                  </a:solidFill>
                  <a:latin typeface="Microsoft YaHei"/>
                  <a:ea typeface="Microsoft YaHei"/>
                </a:rPr>
                <a:t>Host worker 解密</a:t>
              </a:r>
              <a:r>
                <a:rPr sz="1520" b="0" lang="zh-CN">
                  <a:solidFill>
                    <a:srgbClr val="122448"/>
                  </a:solidFill>
                  <a:latin typeface="Microsoft YaHei"/>
                  <a:ea typeface="Microsoft YaHei"/>
                </a:rPr>
                <a:t> → 业务明文</a:t>
              </a:r>
            </a:p>
          </p:txBody>
        </p:sp>
        <p:sp>
          <p:nvSpPr>
            <p:cNvPr id="82" name="完成语义总结"/>
            <p:cNvSpPr/>
            <p:nvPr/>
          </p:nvSpPr>
          <p:spPr>
            <a:xfrm>
              <a:off x="228600" y="8375904"/>
              <a:ext cx="6858000" cy="576072"/>
            </a:xfrm>
            <a:prstGeom prst="roundRect">
              <a:avLst>
                <a:gd name="adj" fmla="val 12000"/>
              </a:avLst>
            </a:prstGeom>
            <a:solidFill>
              <a:srgbClr val="EAF4FD"/>
            </a:solidFill>
            <a:ln w="10160">
              <a:solidFill>
                <a:srgbClr val="087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" name="链路搬运密文；端侧处理明文"/>
            <p:cNvSpPr txBox="1"/>
            <p:nvPr/>
          </p:nvSpPr>
          <p:spPr>
            <a:xfrm>
              <a:off x="365760" y="8421624"/>
              <a:ext cx="6583680" cy="228600"/>
            </a:xfrm>
            <a:prstGeom prst="rect">
              <a:avLst/>
            </a:prstGeom>
            <a:noFill/>
          </p:spPr>
          <p:txBody>
            <a:bodyPr wrap="none" lIns="18288" rIns="18288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00" b="1" lang="zh-CN">
                  <a:solidFill>
                    <a:srgbClr val="122448"/>
                  </a:solidFill>
                  <a:latin typeface="Microsoft YaHei"/>
                  <a:ea typeface="Microsoft YaHei"/>
                </a:rPr>
                <a:t>链路搬运密文；端侧处理明文</a:t>
              </a:r>
            </a:p>
          </p:txBody>
        </p:sp>
        <p:sp>
          <p:nvSpPr>
            <p:cNvPr id="84" name="完成语义覆盖：加密 + 搬运 + 解密"/>
            <p:cNvSpPr txBox="1"/>
            <p:nvPr/>
          </p:nvSpPr>
          <p:spPr>
            <a:xfrm>
              <a:off x="365760" y="8686800"/>
              <a:ext cx="6583680" cy="210312"/>
            </a:xfrm>
            <a:prstGeom prst="rect">
              <a:avLst/>
            </a:prstGeom>
            <a:noFill/>
          </p:spPr>
          <p:txBody>
            <a:bodyPr wrap="none" lIns="18288" rIns="18288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50" b="1" lang="zh-CN">
                  <a:solidFill>
                    <a:srgbClr val="122448"/>
                  </a:solidFill>
                  <a:latin typeface="Microsoft YaHei"/>
                  <a:ea typeface="Microsoft YaHei"/>
                </a:rPr>
                <a:t>完成语义覆盖：加密 + 搬运 + 解密</a:t>
              </a:r>
            </a:p>
          </p:txBody>
        </p:sp>
        <p:sp>
          <p:nvSpPr>
            <p:cNvPr id="85" name="当前算法：AES-256-CTR"/>
            <p:cNvSpPr txBox="1"/>
            <p:nvPr/>
          </p:nvSpPr>
          <p:spPr>
            <a:xfrm>
              <a:off x="320040" y="9025128"/>
              <a:ext cx="6675120" cy="173736"/>
            </a:xfrm>
            <a:prstGeom prst="rect">
              <a:avLst/>
            </a:prstGeom>
            <a:noFill/>
          </p:spPr>
          <p:txBody>
            <a:bodyPr wrap="none" lIns="18288" rIns="18288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50" b="0" lang="zh-CN">
                  <a:solidFill>
                    <a:srgbClr val="63748A"/>
                  </a:solidFill>
                  <a:latin typeface="Microsoft YaHei"/>
                  <a:ea typeface="Microsoft YaHei"/>
                </a:rPr>
                <a:t>当前算法：AES-256-CTR</a:t>
              </a:r>
            </a:p>
          </p:txBody>
        </p:sp>
        <p:sp>
          <p:nvSpPr>
            <p:cNvPr id="86" name="小拷贝整帧处理；大拷贝按片流水执行。"/>
            <p:cNvSpPr txBox="1"/>
            <p:nvPr/>
          </p:nvSpPr>
          <p:spPr>
            <a:xfrm>
              <a:off x="320040" y="9208008"/>
              <a:ext cx="6675120" cy="164592"/>
            </a:xfrm>
            <a:prstGeom prst="rect">
              <a:avLst/>
            </a:prstGeom>
            <a:noFill/>
          </p:spPr>
          <p:txBody>
            <a:bodyPr wrap="none" lIns="18288" rIns="18288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0" lang="zh-CN">
                  <a:solidFill>
                    <a:srgbClr val="63748A"/>
                  </a:solidFill>
                  <a:latin typeface="Microsoft YaHei"/>
                  <a:ea typeface="Microsoft YaHei"/>
                </a:rPr>
                <a:t>小拷贝整帧处理；大拷贝按片流水执行。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CANN Runtime 加密拷贝：同步与异步</dc:title>
  <dc:subject>Ascend 950 UB / runtime_enc iter-014，可编辑流程图</dc:subject>
  <dc:creator>Codex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