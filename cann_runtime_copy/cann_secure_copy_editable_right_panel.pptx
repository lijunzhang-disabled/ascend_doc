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图中所有文字、方框、流程箭头均为原生 PowerPoint 元素，可取消组合后编辑。</a:t>
            </a:r>
          </a:p>
          <a:p/>
          <a:p>
            <a:r>
              <a:t>技术范围：Ascend 950 / UB，runtime_enc 的 iter-014，加密路径启用时。</a:t>
            </a:r>
          </a:p>
          <a:p>
            <a:r>
              <a:t>Runtime HEAD: 9b9efba50；AICPU HEAD: 7fd3986。</a:t>
            </a:r>
          </a:p>
          <a:p>
            <a:r>
              <a:t>同步和异步都路由到 SecureDma；同步等待完整处理结束，异步提交后返回。</a:t>
            </a:r>
          </a:p>
          <a:p>
            <a:r>
              <a:t>密文搬运由 Host worker 通过 Driver::MemCopySync / UB 驱动 URMA 发起。</a:t>
            </a:r>
          </a:p>
          <a:p>
            <a:r>
              <a:t>STARS 调度 ValueWait 和 AICPU SecureDma；AICPU 负责设备侧加解密。</a:t>
            </a:r>
          </a:p>
          <a:p>
            <a:r>
              <a:t>H2D：Host 加密 -&gt; 密文搬运 -&gt; 发布 READY -&gt; AICPU 解密。</a:t>
            </a:r>
          </a:p>
          <a:p>
            <a:r>
              <a:t>D2H：AICPU 加密 -&gt; 完成 -&gt; 密文搬运 -&gt; Host 解密。</a:t>
            </a:r>
          </a:p>
          <a:p>
            <a:r>
              <a:t>Stream 同步通过 HostCompletion 纳入主机解密完成。</a:t>
            </a:r>
          </a:p>
          <a:p>
            <a:r>
              <a:t>算法是 AES-256-CTR，本图未声明 AEAD 或 MAC。</a:t>
            </a:r>
          </a:p>
          <a:p/>
          <a:p>
            <a:r>
              <a:t>源代码：</a:t>
            </a:r>
          </a:p>
          <a:p>
            <a:r>
              <a:t>/home/zlj/ub/runtime_enc/AscendCCv2-Runtime/src/runtime/core/src/memory/secure_dma/</a:t>
            </a:r>
          </a:p>
          <a:p>
            <a:r>
              <a:t>  secure_dma_engine.cc</a:t>
            </a:r>
          </a:p>
          <a:p>
            <a:r>
              <a:t>  secure_dma_whole_copy.cc</a:t>
            </a:r>
          </a:p>
          <a:p>
            <a:r>
              <a:t>  secure_dma_large_copy.cc</a:t>
            </a:r>
          </a:p>
          <a:p>
            <a:r>
              <a:t>  secure_dma_memory.cc</a:t>
            </a:r>
          </a:p>
          <a:p>
            <a:r>
              <a:t>  secure_dma_runtime.cc</a:t>
            </a:r>
          </a:p>
          <a:p>
            <a:r>
              <a:t>  secure_dma_aes_ctr.cc</a:t>
            </a:r>
          </a:p>
          <a:p>
            <a:r>
              <a:t>/home/zlj/ub/runtime_enc/AscendCCv2-Runtime/src/runtime/core/src/stream/stream.cc</a:t>
            </a:r>
          </a:p>
          <a:p>
            <a:r>
              <a:t>/home/zlj/ub/runtime_enc/AscendCCv2-AICPU/ms_kernels/src/secure_dma/secure_dma_whole_copy_device.inc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加密拷贝流程图（取消组合后逐项编辑）"/>
          <p:cNvGrpSpPr/>
          <p:nvPr/>
        </p:nvGrpSpPr>
        <p:grpSpPr>
          <a:xfrm>
            <a:off x="6812280" y="257495"/>
            <a:ext cx="4663440" cy="6298752"/>
            <a:chOff x="6812280" y="257495"/>
            <a:chExt cx="4663440" cy="6298752"/>
          </a:xfrm>
        </p:grpSpPr>
        <p:sp>
          <p:nvSpPr>
            <p:cNvPr id="3" name="加密拷贝：同步与异步"/>
            <p:cNvSpPr txBox="1"/>
            <p:nvPr/>
          </p:nvSpPr>
          <p:spPr>
            <a:xfrm>
              <a:off x="6812280" y="257495"/>
              <a:ext cx="4663440" cy="298460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72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加密拷贝：同步与异步</a:t>
              </a:r>
            </a:p>
          </p:txBody>
        </p:sp>
        <p:sp>
          <p:nvSpPr>
            <p:cNvPr id="4" name="CANN Runtime · Ascend 950 / UB"/>
            <p:cNvSpPr txBox="1"/>
            <p:nvPr/>
          </p:nvSpPr>
          <p:spPr>
            <a:xfrm>
              <a:off x="6812280" y="580826"/>
              <a:ext cx="4663440" cy="18031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6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CANN Runtime · Ascend 950 / UB</a:t>
              </a:r>
            </a:p>
          </p:txBody>
        </p:sp>
        <p:sp>
          <p:nvSpPr>
            <p:cNvPr id="5" name="实现版本"/>
            <p:cNvSpPr/>
            <p:nvPr/>
          </p:nvSpPr>
          <p:spPr>
            <a:xfrm>
              <a:off x="7496251" y="804672"/>
              <a:ext cx="3295497" cy="186537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untime_enc · iter-014 · 加密路径启用时"/>
            <p:cNvSpPr txBox="1"/>
            <p:nvPr/>
          </p:nvSpPr>
          <p:spPr>
            <a:xfrm>
              <a:off x="7508687" y="804672"/>
              <a:ext cx="3270625" cy="186537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4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runtime_enc · iter-014 · 加密路径启用时</a:t>
              </a:r>
            </a:p>
          </p:txBody>
        </p:sp>
        <p:sp>
          <p:nvSpPr>
            <p:cNvPr id="7" name="同步接口卡片"/>
            <p:cNvSpPr/>
            <p:nvPr/>
          </p:nvSpPr>
          <p:spPr>
            <a:xfrm>
              <a:off x="6812280" y="1078260"/>
              <a:ext cx="2269540" cy="727496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 w="6908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同步接口标题底色"/>
            <p:cNvSpPr/>
            <p:nvPr/>
          </p:nvSpPr>
          <p:spPr>
            <a:xfrm>
              <a:off x="6812280" y="1078260"/>
              <a:ext cx="2269540" cy="211409"/>
            </a:xfrm>
            <a:prstGeom prst="roundRect">
              <a:avLst>
                <a:gd name="adj" fmla="val 12000"/>
              </a:avLst>
            </a:prstGeom>
            <a:solidFill>
              <a:srgbClr val="087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同步接口"/>
            <p:cNvSpPr txBox="1"/>
            <p:nvPr/>
          </p:nvSpPr>
          <p:spPr>
            <a:xfrm>
              <a:off x="6862023" y="1084478"/>
              <a:ext cx="2170054" cy="192755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同步接口</a:t>
              </a:r>
            </a:p>
          </p:txBody>
        </p:sp>
        <p:sp>
          <p:nvSpPr>
            <p:cNvPr id="10" name="aclrtMemcpy"/>
            <p:cNvSpPr txBox="1"/>
            <p:nvPr/>
          </p:nvSpPr>
          <p:spPr>
            <a:xfrm>
              <a:off x="6862023" y="1339413"/>
              <a:ext cx="2170054" cy="174101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6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aclrtMemcpy</a:t>
              </a:r>
            </a:p>
          </p:txBody>
        </p:sp>
        <p:sp>
          <p:nvSpPr>
            <p:cNvPr id="11" name="整条加密链完成后返回"/>
            <p:cNvSpPr txBox="1"/>
            <p:nvPr/>
          </p:nvSpPr>
          <p:spPr>
            <a:xfrm>
              <a:off x="6855805" y="1544604"/>
              <a:ext cx="2182489" cy="18031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2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整条加密链完成后返回</a:t>
              </a:r>
            </a:p>
          </p:txBody>
        </p:sp>
        <p:sp>
          <p:nvSpPr>
            <p:cNvPr id="12" name="异步接口卡片"/>
            <p:cNvSpPr/>
            <p:nvPr/>
          </p:nvSpPr>
          <p:spPr>
            <a:xfrm>
              <a:off x="9206179" y="1078260"/>
              <a:ext cx="2269540" cy="727496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6908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异步接口标题底色"/>
            <p:cNvSpPr/>
            <p:nvPr/>
          </p:nvSpPr>
          <p:spPr>
            <a:xfrm>
              <a:off x="9206179" y="1078260"/>
              <a:ext cx="2269540" cy="211409"/>
            </a:xfrm>
            <a:prstGeom prst="roundRect">
              <a:avLst>
                <a:gd name="adj" fmla="val 12000"/>
              </a:avLst>
            </a:prstGeom>
            <a:solidFill>
              <a:srgbClr val="009B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异步接口"/>
            <p:cNvSpPr txBox="1"/>
            <p:nvPr/>
          </p:nvSpPr>
          <p:spPr>
            <a:xfrm>
              <a:off x="9255922" y="1084478"/>
              <a:ext cx="2170054" cy="192755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异步接口</a:t>
              </a:r>
            </a:p>
          </p:txBody>
        </p:sp>
        <p:sp>
          <p:nvSpPr>
            <p:cNvPr id="15" name="aclrtMemcpyAsync"/>
            <p:cNvSpPr txBox="1"/>
            <p:nvPr/>
          </p:nvSpPr>
          <p:spPr>
            <a:xfrm>
              <a:off x="9255922" y="1339413"/>
              <a:ext cx="2170054" cy="174101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6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aclrtMemcpyAsync</a:t>
              </a:r>
            </a:p>
          </p:txBody>
        </p:sp>
        <p:sp>
          <p:nvSpPr>
            <p:cNvPr id="16" name="提交返回；流同步等待完成"/>
            <p:cNvSpPr txBox="1"/>
            <p:nvPr/>
          </p:nvSpPr>
          <p:spPr>
            <a:xfrm>
              <a:off x="9249704" y="1544604"/>
              <a:ext cx="2182489" cy="18031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2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提交返回；流同步等待完成</a:t>
              </a:r>
            </a:p>
          </p:txBody>
        </p:sp>
        <p:cxnSp>
          <p:nvCxnSpPr>
            <p:cNvPr id="17" name="连接箭头"/>
            <p:cNvCxnSpPr/>
            <p:nvPr/>
          </p:nvCxnSpPr>
          <p:spPr>
            <a:xfrm>
              <a:off x="7950159" y="1805757"/>
              <a:ext cx="0" cy="80833"/>
            </a:xfrm>
            <a:prstGeom prst="line">
              <a:avLst/>
            </a:prstGeom>
            <a:ln w="13817">
              <a:solidFill>
                <a:srgbClr val="087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连接箭头"/>
            <p:cNvCxnSpPr/>
            <p:nvPr/>
          </p:nvCxnSpPr>
          <p:spPr>
            <a:xfrm>
              <a:off x="10337840" y="1805757"/>
              <a:ext cx="0" cy="80833"/>
            </a:xfrm>
            <a:prstGeom prst="line">
              <a:avLst/>
            </a:prstGeom>
            <a:ln w="13817">
              <a:solidFill>
                <a:srgbClr val="087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连接箭头"/>
            <p:cNvCxnSpPr/>
            <p:nvPr/>
          </p:nvCxnSpPr>
          <p:spPr>
            <a:xfrm>
              <a:off x="7950159" y="1886590"/>
              <a:ext cx="2387681" cy="0"/>
            </a:xfrm>
            <a:prstGeom prst="line">
              <a:avLst/>
            </a:prstGeom>
            <a:ln w="13817">
              <a:solidFill>
                <a:srgbClr val="087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连接箭头"/>
            <p:cNvCxnSpPr/>
            <p:nvPr/>
          </p:nvCxnSpPr>
          <p:spPr>
            <a:xfrm>
              <a:off x="9144000" y="1886590"/>
              <a:ext cx="0" cy="87050"/>
            </a:xfrm>
            <a:prstGeom prst="line">
              <a:avLst/>
            </a:prstGeom>
            <a:ln w="13817">
              <a:solidFill>
                <a:srgbClr val="0879D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共同安全执行路径"/>
            <p:cNvSpPr/>
            <p:nvPr/>
          </p:nvSpPr>
          <p:spPr>
            <a:xfrm>
              <a:off x="6812280" y="1986076"/>
              <a:ext cx="4663440" cy="354421"/>
            </a:xfrm>
            <a:prstGeom prst="roundRect">
              <a:avLst>
                <a:gd name="adj" fmla="val 12000"/>
              </a:avLst>
            </a:prstGeom>
            <a:solidFill>
              <a:srgbClr val="EAF4FD"/>
            </a:solidFill>
            <a:ln w="6908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共同进入 SecureDma"/>
            <p:cNvSpPr txBox="1"/>
            <p:nvPr/>
          </p:nvSpPr>
          <p:spPr>
            <a:xfrm>
              <a:off x="6874459" y="2004730"/>
              <a:ext cx="4539081" cy="161665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60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共同进入 SecureDma</a:t>
              </a:r>
            </a:p>
          </p:txBody>
        </p:sp>
        <p:sp>
          <p:nvSpPr>
            <p:cNvPr id="23" name="Host worker 负责主机处理与密文搬运"/>
            <p:cNvSpPr txBox="1"/>
            <p:nvPr/>
          </p:nvSpPr>
          <p:spPr>
            <a:xfrm>
              <a:off x="6874459" y="2172614"/>
              <a:ext cx="4539081" cy="124358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2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Host worker 负责主机处理与密文搬运</a:t>
              </a:r>
            </a:p>
          </p:txBody>
        </p:sp>
        <p:sp>
          <p:nvSpPr>
            <p:cNvPr id="24" name="设备控制路径"/>
            <p:cNvSpPr/>
            <p:nvPr/>
          </p:nvSpPr>
          <p:spPr>
            <a:xfrm>
              <a:off x="6812280" y="2427549"/>
              <a:ext cx="4663440" cy="945123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6908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控制路径标题底色"/>
            <p:cNvSpPr/>
            <p:nvPr/>
          </p:nvSpPr>
          <p:spPr>
            <a:xfrm>
              <a:off x="6812280" y="2427549"/>
              <a:ext cx="4663440" cy="211409"/>
            </a:xfrm>
            <a:prstGeom prst="roundRect">
              <a:avLst>
                <a:gd name="adj" fmla="val 12000"/>
              </a:avLst>
            </a:prstGeom>
            <a:solidFill>
              <a:srgbClr val="009B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设备流上的控制路径"/>
            <p:cNvSpPr txBox="1"/>
            <p:nvPr/>
          </p:nvSpPr>
          <p:spPr>
            <a:xfrm>
              <a:off x="6874459" y="2433767"/>
              <a:ext cx="4539081" cy="192755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设备流上的控制路径</a:t>
              </a:r>
            </a:p>
          </p:txBody>
        </p:sp>
        <p:sp>
          <p:nvSpPr>
            <p:cNvPr id="27" name="Runtime 提交 SQE节点"/>
            <p:cNvSpPr/>
            <p:nvPr/>
          </p:nvSpPr>
          <p:spPr>
            <a:xfrm>
              <a:off x="7278624" y="2701137"/>
              <a:ext cx="1678838" cy="198973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908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untime 提交 SQE"/>
            <p:cNvSpPr txBox="1"/>
            <p:nvPr/>
          </p:nvSpPr>
          <p:spPr>
            <a:xfrm>
              <a:off x="7297277" y="2701137"/>
              <a:ext cx="1641530" cy="198973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8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Runtime 提交 SQE</a:t>
              </a:r>
            </a:p>
          </p:txBody>
        </p:sp>
        <p:sp>
          <p:nvSpPr>
            <p:cNvPr id="29" name="STARS 按流调度节点"/>
            <p:cNvSpPr/>
            <p:nvPr/>
          </p:nvSpPr>
          <p:spPr>
            <a:xfrm>
              <a:off x="9330537" y="2701137"/>
              <a:ext cx="1678838" cy="198973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908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ARS 按流调度"/>
            <p:cNvSpPr txBox="1"/>
            <p:nvPr/>
          </p:nvSpPr>
          <p:spPr>
            <a:xfrm>
              <a:off x="9349191" y="2701137"/>
              <a:ext cx="1641530" cy="198973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8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STARS 按流调度</a:t>
              </a:r>
            </a:p>
          </p:txBody>
        </p:sp>
        <p:sp>
          <p:nvSpPr>
            <p:cNvPr id="31" name="ValueWait(READY)节点"/>
            <p:cNvSpPr/>
            <p:nvPr/>
          </p:nvSpPr>
          <p:spPr>
            <a:xfrm>
              <a:off x="7278624" y="3005815"/>
              <a:ext cx="1678838" cy="198973"/>
            </a:xfrm>
            <a:prstGeom prst="roundRect">
              <a:avLst>
                <a:gd name="adj" fmla="val 12000"/>
              </a:avLst>
            </a:prstGeom>
            <a:solidFill>
              <a:srgbClr val="F4EDFE"/>
            </a:solidFill>
            <a:ln w="6908">
              <a:solidFill>
                <a:srgbClr val="713B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ValueWait(READY)"/>
            <p:cNvSpPr txBox="1"/>
            <p:nvPr/>
          </p:nvSpPr>
          <p:spPr>
            <a:xfrm>
              <a:off x="7297277" y="3005815"/>
              <a:ext cx="1641530" cy="198973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8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ValueWait(READY)</a:t>
              </a:r>
            </a:p>
          </p:txBody>
        </p:sp>
        <p:sp>
          <p:nvSpPr>
            <p:cNvPr id="33" name="AICPU SecureDma节点"/>
            <p:cNvSpPr/>
            <p:nvPr/>
          </p:nvSpPr>
          <p:spPr>
            <a:xfrm>
              <a:off x="9330537" y="3005815"/>
              <a:ext cx="1678838" cy="198973"/>
            </a:xfrm>
            <a:prstGeom prst="roundRect">
              <a:avLst>
                <a:gd name="adj" fmla="val 12000"/>
              </a:avLst>
            </a:prstGeom>
            <a:solidFill>
              <a:srgbClr val="F4EDFE"/>
            </a:solidFill>
            <a:ln w="6908">
              <a:solidFill>
                <a:srgbClr val="713B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AICPU SecureDma"/>
            <p:cNvSpPr txBox="1"/>
            <p:nvPr/>
          </p:nvSpPr>
          <p:spPr>
            <a:xfrm>
              <a:off x="9349191" y="3005815"/>
              <a:ext cx="1641530" cy="198973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88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AICPU SecureDma</a:t>
              </a:r>
            </a:p>
          </p:txBody>
        </p:sp>
        <p:cxnSp>
          <p:nvCxnSpPr>
            <p:cNvPr id="35" name="连接箭头"/>
            <p:cNvCxnSpPr/>
            <p:nvPr/>
          </p:nvCxnSpPr>
          <p:spPr>
            <a:xfrm>
              <a:off x="8969898" y="2800624"/>
              <a:ext cx="323332" cy="0"/>
            </a:xfrm>
            <a:prstGeom prst="line">
              <a:avLst/>
            </a:prstGeom>
            <a:ln w="13817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连接箭头"/>
            <p:cNvCxnSpPr/>
            <p:nvPr/>
          </p:nvCxnSpPr>
          <p:spPr>
            <a:xfrm>
              <a:off x="10169956" y="2906328"/>
              <a:ext cx="0" cy="43526"/>
            </a:xfrm>
            <a:prstGeom prst="line">
              <a:avLst/>
            </a:prstGeom>
            <a:ln w="10363">
              <a:solidFill>
                <a:srgbClr val="009B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连接箭头"/>
            <p:cNvCxnSpPr/>
            <p:nvPr/>
          </p:nvCxnSpPr>
          <p:spPr>
            <a:xfrm flipH="1">
              <a:off x="8118043" y="2949854"/>
              <a:ext cx="2051913" cy="0"/>
            </a:xfrm>
            <a:prstGeom prst="line">
              <a:avLst/>
            </a:prstGeom>
            <a:ln w="10363">
              <a:solidFill>
                <a:srgbClr val="009BA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连接箭头"/>
            <p:cNvCxnSpPr/>
            <p:nvPr/>
          </p:nvCxnSpPr>
          <p:spPr>
            <a:xfrm>
              <a:off x="8118043" y="2949854"/>
              <a:ext cx="0" cy="49743"/>
            </a:xfrm>
            <a:prstGeom prst="line">
              <a:avLst/>
            </a:prstGeom>
            <a:ln w="10363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连接箭头"/>
            <p:cNvCxnSpPr/>
            <p:nvPr/>
          </p:nvCxnSpPr>
          <p:spPr>
            <a:xfrm>
              <a:off x="8969898" y="3105302"/>
              <a:ext cx="323332" cy="0"/>
            </a:xfrm>
            <a:prstGeom prst="line">
              <a:avLst/>
            </a:prstGeom>
            <a:ln w="13817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STARS 调度任务，AICPU 执行加解密"/>
            <p:cNvSpPr txBox="1"/>
            <p:nvPr/>
          </p:nvSpPr>
          <p:spPr>
            <a:xfrm>
              <a:off x="6905548" y="3235878"/>
              <a:ext cx="4476902" cy="105704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7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STARS 调度任务，AICPU 执行加解密</a:t>
              </a:r>
            </a:p>
          </p:txBody>
        </p:sp>
        <p:sp>
          <p:nvSpPr>
            <p:cNvPr id="41" name="H2D：Host 加密，Device 解密面板"/>
            <p:cNvSpPr/>
            <p:nvPr/>
          </p:nvSpPr>
          <p:spPr>
            <a:xfrm>
              <a:off x="6812280" y="3465941"/>
              <a:ext cx="4663440" cy="1175186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908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H2D：Host 加密，Device 解密标题底色"/>
            <p:cNvSpPr/>
            <p:nvPr/>
          </p:nvSpPr>
          <p:spPr>
            <a:xfrm>
              <a:off x="6812280" y="3465941"/>
              <a:ext cx="4663440" cy="223845"/>
            </a:xfrm>
            <a:prstGeom prst="roundRect">
              <a:avLst>
                <a:gd name="adj" fmla="val 12000"/>
              </a:avLst>
            </a:prstGeom>
            <a:solidFill>
              <a:srgbClr val="087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H2D：Host 加密，Device 解密"/>
            <p:cNvSpPr txBox="1"/>
            <p:nvPr/>
          </p:nvSpPr>
          <p:spPr>
            <a:xfrm>
              <a:off x="6905548" y="3472159"/>
              <a:ext cx="4476902" cy="198973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H2D：Host 加密，Device 解密</a:t>
              </a:r>
            </a:p>
          </p:txBody>
        </p:sp>
        <p:sp>
          <p:nvSpPr>
            <p:cNvPr id="44" name="Host 侧步骤标签"/>
            <p:cNvSpPr/>
            <p:nvPr/>
          </p:nvSpPr>
          <p:spPr>
            <a:xfrm>
              <a:off x="6905548" y="3739530"/>
              <a:ext cx="845637" cy="211409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1"/>
            <p:cNvSpPr txBox="1"/>
            <p:nvPr/>
          </p:nvSpPr>
          <p:spPr>
            <a:xfrm>
              <a:off x="6930420" y="3739530"/>
              <a:ext cx="149230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1</a:t>
              </a:r>
            </a:p>
          </p:txBody>
        </p:sp>
        <p:sp>
          <p:nvSpPr>
            <p:cNvPr id="46" name="Host 侧"/>
            <p:cNvSpPr txBox="1"/>
            <p:nvPr/>
          </p:nvSpPr>
          <p:spPr>
            <a:xfrm>
              <a:off x="7085868" y="3739530"/>
              <a:ext cx="621792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86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Host 侧</a:t>
              </a:r>
            </a:p>
          </p:txBody>
        </p:sp>
        <p:sp>
          <p:nvSpPr>
            <p:cNvPr id="47" name="Host 侧流程背景"/>
            <p:cNvSpPr/>
            <p:nvPr/>
          </p:nvSpPr>
          <p:spPr>
            <a:xfrm>
              <a:off x="7838236" y="3739530"/>
              <a:ext cx="3513124" cy="211409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 w="6908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明文 → Host worker 加密 → 密文缓冲"/>
            <p:cNvSpPr txBox="1"/>
            <p:nvPr/>
          </p:nvSpPr>
          <p:spPr>
            <a:xfrm>
              <a:off x="7863108" y="3739530"/>
              <a:ext cx="3463381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3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033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明文 → </a:t>
              </a:r>
              <a:r>
                <a:rPr sz="1033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Host worker 加密</a:t>
              </a:r>
              <a:r>
                <a:rPr sz="1033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密文缓冲</a:t>
              </a:r>
            </a:p>
          </p:txBody>
        </p:sp>
        <p:cxnSp>
          <p:nvCxnSpPr>
            <p:cNvPr id="49" name="连接箭头"/>
            <p:cNvCxnSpPr/>
            <p:nvPr/>
          </p:nvCxnSpPr>
          <p:spPr>
            <a:xfrm>
              <a:off x="9597908" y="3957157"/>
              <a:ext cx="0" cy="62179"/>
            </a:xfrm>
            <a:prstGeom prst="line">
              <a:avLst/>
            </a:prstGeom>
            <a:ln w="13817">
              <a:solidFill>
                <a:srgbClr val="0879D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UB 传输步骤标签"/>
            <p:cNvSpPr/>
            <p:nvPr/>
          </p:nvSpPr>
          <p:spPr>
            <a:xfrm>
              <a:off x="6905548" y="4025554"/>
              <a:ext cx="845637" cy="211409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2"/>
            <p:cNvSpPr txBox="1"/>
            <p:nvPr/>
          </p:nvSpPr>
          <p:spPr>
            <a:xfrm>
              <a:off x="6930420" y="4025554"/>
              <a:ext cx="149230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2</a:t>
              </a:r>
            </a:p>
          </p:txBody>
        </p:sp>
        <p:sp>
          <p:nvSpPr>
            <p:cNvPr id="52" name="UB 传输"/>
            <p:cNvSpPr txBox="1"/>
            <p:nvPr/>
          </p:nvSpPr>
          <p:spPr>
            <a:xfrm>
              <a:off x="7085868" y="4025554"/>
              <a:ext cx="621792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86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UB 传输</a:t>
              </a:r>
            </a:p>
          </p:txBody>
        </p:sp>
        <p:sp>
          <p:nvSpPr>
            <p:cNvPr id="53" name="UB 传输流程背景"/>
            <p:cNvSpPr/>
            <p:nvPr/>
          </p:nvSpPr>
          <p:spPr>
            <a:xfrm>
              <a:off x="7838236" y="4025554"/>
              <a:ext cx="3513124" cy="211409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 w="6908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MemCopySync → URMA → Device 密文"/>
            <p:cNvSpPr txBox="1"/>
            <p:nvPr/>
          </p:nvSpPr>
          <p:spPr>
            <a:xfrm>
              <a:off x="7863108" y="4025554"/>
              <a:ext cx="3463381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02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MemCopySync</a:t>
              </a:r>
              <a:r>
                <a:rPr sz="1020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URMA → Device 密文</a:t>
              </a:r>
            </a:p>
          </p:txBody>
        </p:sp>
        <p:sp>
          <p:nvSpPr>
            <p:cNvPr id="55" name="密文搬运完成后发布 READY"/>
            <p:cNvSpPr txBox="1"/>
            <p:nvPr/>
          </p:nvSpPr>
          <p:spPr>
            <a:xfrm>
              <a:off x="7863108" y="4255617"/>
              <a:ext cx="3046780" cy="111922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 b="0" lang="zh-CN">
                  <a:solidFill>
                    <a:srgbClr val="63748A"/>
                  </a:solidFill>
                  <a:latin typeface="Microsoft YaHei"/>
                  <a:ea typeface="Microsoft YaHei"/>
                </a:rPr>
                <a:t>密文搬运完成后发布 READY</a:t>
              </a:r>
            </a:p>
          </p:txBody>
        </p:sp>
        <p:cxnSp>
          <p:nvCxnSpPr>
            <p:cNvPr id="56" name="连接箭头"/>
            <p:cNvCxnSpPr/>
            <p:nvPr/>
          </p:nvCxnSpPr>
          <p:spPr>
            <a:xfrm>
              <a:off x="11102644" y="4249399"/>
              <a:ext cx="0" cy="124359"/>
            </a:xfrm>
            <a:prstGeom prst="line">
              <a:avLst/>
            </a:prstGeom>
            <a:ln w="10363">
              <a:solidFill>
                <a:srgbClr val="0879D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Device 侧步骤标签"/>
            <p:cNvSpPr/>
            <p:nvPr/>
          </p:nvSpPr>
          <p:spPr>
            <a:xfrm>
              <a:off x="6905548" y="4379976"/>
              <a:ext cx="845637" cy="211409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3"/>
            <p:cNvSpPr txBox="1"/>
            <p:nvPr/>
          </p:nvSpPr>
          <p:spPr>
            <a:xfrm>
              <a:off x="6930420" y="4379976"/>
              <a:ext cx="149230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3</a:t>
              </a:r>
            </a:p>
          </p:txBody>
        </p:sp>
        <p:sp>
          <p:nvSpPr>
            <p:cNvPr id="59" name="Device 侧"/>
            <p:cNvSpPr txBox="1"/>
            <p:nvPr/>
          </p:nvSpPr>
          <p:spPr>
            <a:xfrm>
              <a:off x="7085868" y="4379976"/>
              <a:ext cx="621792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86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Device 侧</a:t>
              </a:r>
            </a:p>
          </p:txBody>
        </p:sp>
        <p:sp>
          <p:nvSpPr>
            <p:cNvPr id="60" name="Device 侧流程背景"/>
            <p:cNvSpPr/>
            <p:nvPr/>
          </p:nvSpPr>
          <p:spPr>
            <a:xfrm>
              <a:off x="7838236" y="4379976"/>
              <a:ext cx="3513124" cy="211409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6908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ValueWait → AICPU 解密 → 明文"/>
            <p:cNvSpPr txBox="1"/>
            <p:nvPr/>
          </p:nvSpPr>
          <p:spPr>
            <a:xfrm>
              <a:off x="7863108" y="4379976"/>
              <a:ext cx="3463381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3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033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ValueWait → </a:t>
              </a:r>
              <a:r>
                <a:rPr sz="1033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AICPU 解密</a:t>
              </a:r>
              <a:r>
                <a:rPr sz="1033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明文</a:t>
              </a:r>
            </a:p>
          </p:txBody>
        </p:sp>
        <p:sp>
          <p:nvSpPr>
            <p:cNvPr id="62" name="D2H：Device 加密，Host 解密面板"/>
            <p:cNvSpPr/>
            <p:nvPr/>
          </p:nvSpPr>
          <p:spPr>
            <a:xfrm>
              <a:off x="6812280" y="4715743"/>
              <a:ext cx="4663440" cy="1088136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6908">
              <a:solidFill>
                <a:srgbClr val="009B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D2H：Device 加密，Host 解密标题底色"/>
            <p:cNvSpPr/>
            <p:nvPr/>
          </p:nvSpPr>
          <p:spPr>
            <a:xfrm>
              <a:off x="6812280" y="4715743"/>
              <a:ext cx="4663440" cy="223845"/>
            </a:xfrm>
            <a:prstGeom prst="roundRect">
              <a:avLst>
                <a:gd name="adj" fmla="val 12000"/>
              </a:avLst>
            </a:prstGeom>
            <a:solidFill>
              <a:srgbClr val="009B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D2H：Device 加密，Host 解密"/>
            <p:cNvSpPr txBox="1"/>
            <p:nvPr/>
          </p:nvSpPr>
          <p:spPr>
            <a:xfrm>
              <a:off x="6905548" y="4721961"/>
              <a:ext cx="4476902" cy="198973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4" b="1" lang="zh-CN">
                  <a:solidFill>
                    <a:srgbClr val="FFFFFF"/>
                  </a:solidFill>
                  <a:latin typeface="Microsoft YaHei"/>
                  <a:ea typeface="Microsoft YaHei"/>
                </a:rPr>
                <a:t>D2H：Device 加密，Host 解密</a:t>
              </a:r>
            </a:p>
          </p:txBody>
        </p:sp>
        <p:sp>
          <p:nvSpPr>
            <p:cNvPr id="65" name="Device 侧步骤标签"/>
            <p:cNvSpPr/>
            <p:nvPr/>
          </p:nvSpPr>
          <p:spPr>
            <a:xfrm>
              <a:off x="6905548" y="4989332"/>
              <a:ext cx="845637" cy="211409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1"/>
            <p:cNvSpPr txBox="1"/>
            <p:nvPr/>
          </p:nvSpPr>
          <p:spPr>
            <a:xfrm>
              <a:off x="6930420" y="4989332"/>
              <a:ext cx="149230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1</a:t>
              </a:r>
            </a:p>
          </p:txBody>
        </p:sp>
        <p:sp>
          <p:nvSpPr>
            <p:cNvPr id="67" name="Device 侧"/>
            <p:cNvSpPr txBox="1"/>
            <p:nvPr/>
          </p:nvSpPr>
          <p:spPr>
            <a:xfrm>
              <a:off x="7085868" y="4989332"/>
              <a:ext cx="621792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86" b="1" lang="zh-CN">
                  <a:solidFill>
                    <a:srgbClr val="009BA3"/>
                  </a:solidFill>
                  <a:latin typeface="Microsoft YaHei"/>
                  <a:ea typeface="Microsoft YaHei"/>
                </a:rPr>
                <a:t>Device 侧</a:t>
              </a:r>
            </a:p>
          </p:txBody>
        </p:sp>
        <p:sp>
          <p:nvSpPr>
            <p:cNvPr id="68" name="Device 侧流程背景"/>
            <p:cNvSpPr/>
            <p:nvPr/>
          </p:nvSpPr>
          <p:spPr>
            <a:xfrm>
              <a:off x="7838236" y="4989332"/>
              <a:ext cx="3513124" cy="211409"/>
            </a:xfrm>
            <a:prstGeom prst="roundRect">
              <a:avLst>
                <a:gd name="adj" fmla="val 12000"/>
              </a:avLst>
            </a:prstGeom>
            <a:solidFill>
              <a:srgbClr val="ECFAF8"/>
            </a:solidFill>
            <a:ln w="6908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明文 → AICPU 加密 → 密文缓冲"/>
            <p:cNvSpPr txBox="1"/>
            <p:nvPr/>
          </p:nvSpPr>
          <p:spPr>
            <a:xfrm>
              <a:off x="7863108" y="4989332"/>
              <a:ext cx="3463381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3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033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明文 → </a:t>
              </a:r>
              <a:r>
                <a:rPr sz="1033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AICPU 加密</a:t>
              </a:r>
              <a:r>
                <a:rPr sz="1033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密文缓冲</a:t>
              </a:r>
            </a:p>
          </p:txBody>
        </p:sp>
        <p:cxnSp>
          <p:nvCxnSpPr>
            <p:cNvPr id="70" name="连接箭头"/>
            <p:cNvCxnSpPr/>
            <p:nvPr/>
          </p:nvCxnSpPr>
          <p:spPr>
            <a:xfrm>
              <a:off x="9597908" y="5206959"/>
              <a:ext cx="0" cy="62179"/>
            </a:xfrm>
            <a:prstGeom prst="line">
              <a:avLst/>
            </a:prstGeom>
            <a:ln w="13817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UB 传输步骤标签"/>
            <p:cNvSpPr/>
            <p:nvPr/>
          </p:nvSpPr>
          <p:spPr>
            <a:xfrm>
              <a:off x="6905548" y="5275356"/>
              <a:ext cx="845637" cy="211409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2"/>
            <p:cNvSpPr txBox="1"/>
            <p:nvPr/>
          </p:nvSpPr>
          <p:spPr>
            <a:xfrm>
              <a:off x="6930420" y="5275356"/>
              <a:ext cx="149230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2</a:t>
              </a:r>
            </a:p>
          </p:txBody>
        </p:sp>
        <p:sp>
          <p:nvSpPr>
            <p:cNvPr id="73" name="UB 传输"/>
            <p:cNvSpPr txBox="1"/>
            <p:nvPr/>
          </p:nvSpPr>
          <p:spPr>
            <a:xfrm>
              <a:off x="7085868" y="5275356"/>
              <a:ext cx="621792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86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UB 传输</a:t>
              </a:r>
            </a:p>
          </p:txBody>
        </p:sp>
        <p:sp>
          <p:nvSpPr>
            <p:cNvPr id="74" name="UB 传输流程背景"/>
            <p:cNvSpPr/>
            <p:nvPr/>
          </p:nvSpPr>
          <p:spPr>
            <a:xfrm>
              <a:off x="7838236" y="5275356"/>
              <a:ext cx="3513124" cy="211409"/>
            </a:xfrm>
            <a:prstGeom prst="roundRect">
              <a:avLst>
                <a:gd name="adj" fmla="val 12000"/>
              </a:avLst>
            </a:prstGeom>
            <a:solidFill>
              <a:srgbClr val="FFF5DF"/>
            </a:solidFill>
            <a:ln w="6908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加密完成 → 驱动 / URMA → Host 密文"/>
            <p:cNvSpPr txBox="1"/>
            <p:nvPr/>
          </p:nvSpPr>
          <p:spPr>
            <a:xfrm>
              <a:off x="7863108" y="5275356"/>
              <a:ext cx="3463381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6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006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加密完成 → </a:t>
              </a:r>
              <a:r>
                <a:rPr sz="1006" b="1" lang="zh-CN">
                  <a:solidFill>
                    <a:srgbClr val="B96D05"/>
                  </a:solidFill>
                  <a:latin typeface="Microsoft YaHei"/>
                  <a:ea typeface="Microsoft YaHei"/>
                </a:rPr>
                <a:t>驱动 / URMA</a:t>
              </a:r>
              <a:r>
                <a:rPr sz="1006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Host 密文</a:t>
              </a:r>
            </a:p>
          </p:txBody>
        </p:sp>
        <p:cxnSp>
          <p:nvCxnSpPr>
            <p:cNvPr id="76" name="连接箭头"/>
            <p:cNvCxnSpPr/>
            <p:nvPr/>
          </p:nvCxnSpPr>
          <p:spPr>
            <a:xfrm>
              <a:off x="9597908" y="5492983"/>
              <a:ext cx="0" cy="62179"/>
            </a:xfrm>
            <a:prstGeom prst="line">
              <a:avLst/>
            </a:prstGeom>
            <a:ln w="13817">
              <a:solidFill>
                <a:srgbClr val="009BA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Host 侧步骤标签"/>
            <p:cNvSpPr/>
            <p:nvPr/>
          </p:nvSpPr>
          <p:spPr>
            <a:xfrm>
              <a:off x="6905548" y="5561380"/>
              <a:ext cx="845637" cy="211409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3"/>
            <p:cNvSpPr txBox="1"/>
            <p:nvPr/>
          </p:nvSpPr>
          <p:spPr>
            <a:xfrm>
              <a:off x="6930420" y="5561380"/>
              <a:ext cx="149230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20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3</a:t>
              </a:r>
            </a:p>
          </p:txBody>
        </p:sp>
        <p:sp>
          <p:nvSpPr>
            <p:cNvPr id="79" name="Host 侧"/>
            <p:cNvSpPr txBox="1"/>
            <p:nvPr/>
          </p:nvSpPr>
          <p:spPr>
            <a:xfrm>
              <a:off x="7085868" y="5561380"/>
              <a:ext cx="621792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86" b="1" lang="zh-CN">
                  <a:solidFill>
                    <a:srgbClr val="0879D9"/>
                  </a:solidFill>
                  <a:latin typeface="Microsoft YaHei"/>
                  <a:ea typeface="Microsoft YaHei"/>
                </a:rPr>
                <a:t>Host 侧</a:t>
              </a:r>
            </a:p>
          </p:txBody>
        </p:sp>
        <p:sp>
          <p:nvSpPr>
            <p:cNvPr id="80" name="Host 侧流程背景"/>
            <p:cNvSpPr/>
            <p:nvPr/>
          </p:nvSpPr>
          <p:spPr>
            <a:xfrm>
              <a:off x="7838236" y="5561380"/>
              <a:ext cx="3513124" cy="211409"/>
            </a:xfrm>
            <a:prstGeom prst="roundRect">
              <a:avLst>
                <a:gd name="adj" fmla="val 12000"/>
              </a:avLst>
            </a:prstGeom>
            <a:solidFill>
              <a:srgbClr val="EEF6FE"/>
            </a:solidFill>
            <a:ln w="6908">
              <a:solidFill>
                <a:srgbClr val="B4CFE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Host worker 解密 → 业务明文"/>
            <p:cNvSpPr txBox="1"/>
            <p:nvPr/>
          </p:nvSpPr>
          <p:spPr>
            <a:xfrm>
              <a:off x="7863108" y="5561380"/>
              <a:ext cx="3463381" cy="211409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33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/>
              </a:r>
              <a:r>
                <a:rPr sz="1033" b="1" lang="zh-CN">
                  <a:solidFill>
                    <a:srgbClr val="713BC0"/>
                  </a:solidFill>
                  <a:latin typeface="Microsoft YaHei"/>
                  <a:ea typeface="Microsoft YaHei"/>
                </a:rPr>
                <a:t>Host worker 解密</a:t>
              </a:r>
              <a:r>
                <a:rPr sz="1033" b="0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 → 业务明文</a:t>
              </a:r>
            </a:p>
          </p:txBody>
        </p:sp>
        <p:sp>
          <p:nvSpPr>
            <p:cNvPr id="82" name="完成语义总结"/>
            <p:cNvSpPr/>
            <p:nvPr/>
          </p:nvSpPr>
          <p:spPr>
            <a:xfrm>
              <a:off x="6812280" y="5878494"/>
              <a:ext cx="4663440" cy="391728"/>
            </a:xfrm>
            <a:prstGeom prst="roundRect">
              <a:avLst>
                <a:gd name="adj" fmla="val 12000"/>
              </a:avLst>
            </a:prstGeom>
            <a:solidFill>
              <a:srgbClr val="EAF4FD"/>
            </a:solidFill>
            <a:ln w="6908">
              <a:solidFill>
                <a:srgbClr val="087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链路搬运密文；端侧处理明文"/>
            <p:cNvSpPr txBox="1"/>
            <p:nvPr/>
          </p:nvSpPr>
          <p:spPr>
            <a:xfrm>
              <a:off x="6905548" y="5909584"/>
              <a:ext cx="4476902" cy="155448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2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链路搬运密文；端侧处理明文</a:t>
              </a:r>
            </a:p>
          </p:txBody>
        </p:sp>
        <p:sp>
          <p:nvSpPr>
            <p:cNvPr id="84" name="完成语义覆盖：加密 + 搬运 + 解密"/>
            <p:cNvSpPr txBox="1"/>
            <p:nvPr/>
          </p:nvSpPr>
          <p:spPr>
            <a:xfrm>
              <a:off x="6905548" y="6089904"/>
              <a:ext cx="4476902" cy="143012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2" b="1" lang="zh-CN">
                  <a:solidFill>
                    <a:srgbClr val="122448"/>
                  </a:solidFill>
                  <a:latin typeface="Microsoft YaHei"/>
                  <a:ea typeface="Microsoft YaHei"/>
                </a:rPr>
                <a:t>完成语义覆盖：加密 + 搬运 + 解密</a:t>
              </a:r>
            </a:p>
          </p:txBody>
        </p:sp>
        <p:sp>
          <p:nvSpPr>
            <p:cNvPr id="85" name="当前算法：AES-256-CTR"/>
            <p:cNvSpPr txBox="1"/>
            <p:nvPr/>
          </p:nvSpPr>
          <p:spPr>
            <a:xfrm>
              <a:off x="6874459" y="6319967"/>
              <a:ext cx="4539081" cy="118140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lang="zh-CN">
                  <a:solidFill>
                    <a:srgbClr val="63748A"/>
                  </a:solidFill>
                  <a:latin typeface="Microsoft YaHei"/>
                  <a:ea typeface="Microsoft YaHei"/>
                </a:rPr>
                <a:t>当前算法：AES-256-CTR</a:t>
              </a:r>
            </a:p>
          </p:txBody>
        </p:sp>
        <p:sp>
          <p:nvSpPr>
            <p:cNvPr id="86" name="小拷贝整帧处理；大拷贝按片流水执行。"/>
            <p:cNvSpPr txBox="1"/>
            <p:nvPr/>
          </p:nvSpPr>
          <p:spPr>
            <a:xfrm>
              <a:off x="6874459" y="6444325"/>
              <a:ext cx="4539081" cy="111922"/>
            </a:xfrm>
            <a:prstGeom prst="rect">
              <a:avLst/>
            </a:prstGeom>
            <a:noFill/>
          </p:spPr>
          <p:txBody>
            <a:bodyPr wrap="none" lIns="12435" rIns="12435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 b="0" lang="zh-CN">
                  <a:solidFill>
                    <a:srgbClr val="63748A"/>
                  </a:solidFill>
                  <a:latin typeface="Microsoft YaHei"/>
                  <a:ea typeface="Microsoft YaHei"/>
                </a:rPr>
                <a:t>小拷贝整帧处理；大拷贝按片流水执行。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CANN Runtime 加密拷贝：同步与异步</dc:title>
  <dc:subject>Ascend 950 UB / runtime_enc iter-014，可编辑流程图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