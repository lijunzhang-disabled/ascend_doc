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412480" cy="786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图中所有文字、方框、流程箭头均为原生 PowerPoint 元素，可取消组合后编辑。</a:t>
            </a:r>
          </a:p>
          <a:p/>
          <a:p>
            <a:r>
              <a:t>技术范围：Ascend 950 / UB，runtime_enc 的 iter-014，加密路径启用时。</a:t>
            </a:r>
          </a:p>
          <a:p>
            <a:r>
              <a:t>Runtime HEAD: 9b9efba50；AICPU HEAD: 7fd3986。</a:t>
            </a:r>
          </a:p>
          <a:p>
            <a:r>
              <a:t>同步和异步都路由到 SecureDma；同步等待完整处理结束，异步提交后返回。</a:t>
            </a:r>
          </a:p>
          <a:p>
            <a:r>
              <a:t>密文搬运由 Host worker 通过 Driver::MemCopySync / UB 驱动 URMA 发起。</a:t>
            </a:r>
          </a:p>
          <a:p>
            <a:r>
              <a:t>STARS 调度 ValueWait 和 AICPU SecureDma；AICPU 负责设备侧加解密。</a:t>
            </a:r>
          </a:p>
          <a:p>
            <a:r>
              <a:t>H2D：Host 加密 -&gt; 密文搬运 -&gt; 发布 READY -&gt; AICPU 解密。</a:t>
            </a:r>
          </a:p>
          <a:p>
            <a:r>
              <a:t>D2H：AICPU 加密 -&gt; 完成 -&gt; 密文搬运 -&gt; Host 解密。</a:t>
            </a:r>
          </a:p>
          <a:p>
            <a:r>
              <a:t>Stream 同步通过 HostCompletion 纳入主机解密完成。</a:t>
            </a:r>
          </a:p>
          <a:p>
            <a:r>
              <a:t>算法是 AES-256-CTR，本图未声明 AEAD 或 MAC。</a:t>
            </a:r>
          </a:p>
          <a:p/>
          <a:p>
            <a:r>
              <a:t>源代码：</a:t>
            </a:r>
          </a:p>
          <a:p>
            <a:r>
              <a:t>/home/zlj/ub/runtime_enc/AscendCCv2-Runtime/src/runtime/core/src/memory/secure_dma/</a:t>
            </a:r>
          </a:p>
          <a:p>
            <a:r>
              <a:t>  secure_dma_engine.cc</a:t>
            </a:r>
          </a:p>
          <a:p>
            <a:r>
              <a:t>  secure_dma_whole_copy.cc</a:t>
            </a:r>
          </a:p>
          <a:p>
            <a:r>
              <a:t>  secure_dma_large_copy.cc</a:t>
            </a:r>
          </a:p>
          <a:p>
            <a:r>
              <a:t>  secure_dma_memory.cc</a:t>
            </a:r>
          </a:p>
          <a:p>
            <a:r>
              <a:t>  secure_dma_runtime.cc</a:t>
            </a:r>
          </a:p>
          <a:p>
            <a:r>
              <a:t>  secure_dma_aes_ctr.cc</a:t>
            </a:r>
          </a:p>
          <a:p>
            <a:r>
              <a:t>/home/zlj/ub/runtime_enc/AscendCCv2-Runtime/src/runtime/core/src/stream/stream.cc</a:t>
            </a:r>
          </a:p>
          <a:p>
            <a:r>
              <a:t>/home/zlj/ub/runtime_enc/AscendCCv2-AICPU/ms_kernels/src/secure_dma/secure_dma_whole_copy_device.inc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加密拷贝流程图（取消组合后逐项编辑）"/>
          <p:cNvGrpSpPr/>
          <p:nvPr/>
        </p:nvGrpSpPr>
        <p:grpSpPr>
          <a:xfrm>
            <a:off x="228600" y="109728"/>
            <a:ext cx="7955280" cy="7626096"/>
            <a:chOff x="228600" y="109728"/>
            <a:chExt cx="7955280" cy="7626096"/>
          </a:xfrm>
        </p:grpSpPr>
        <p:sp>
          <p:nvSpPr>
            <p:cNvPr id="3" name="加密拷贝：同步与异步"/>
            <p:cNvSpPr txBox="1"/>
            <p:nvPr/>
          </p:nvSpPr>
          <p:spPr>
            <a:xfrm>
              <a:off x="228600" y="109728"/>
              <a:ext cx="7955279" cy="393192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90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加密拷贝：同步与异步</a:t>
              </a:r>
            </a:p>
          </p:txBody>
        </p:sp>
        <p:sp>
          <p:nvSpPr>
            <p:cNvPr id="4" name="CANN Runtime · Ascend 950 / UB · runtime_enc / iter-014"/>
            <p:cNvSpPr txBox="1"/>
            <p:nvPr/>
          </p:nvSpPr>
          <p:spPr>
            <a:xfrm>
              <a:off x="228600" y="557784"/>
              <a:ext cx="7955279" cy="23774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CANN Runtime · Ascend 950 / UB · runtime_enc / iter-014</a:t>
              </a:r>
            </a:p>
          </p:txBody>
        </p:sp>
        <p:sp>
          <p:nvSpPr>
            <p:cNvPr id="5" name="同步接口卡片"/>
            <p:cNvSpPr/>
            <p:nvPr/>
          </p:nvSpPr>
          <p:spPr>
            <a:xfrm>
              <a:off x="228600" y="932688"/>
              <a:ext cx="3867912" cy="841248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 w="10160">
              <a:solidFill>
                <a:srgbClr val="087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同步接口标题底色"/>
            <p:cNvSpPr/>
            <p:nvPr/>
          </p:nvSpPr>
          <p:spPr>
            <a:xfrm>
              <a:off x="228600" y="932688"/>
              <a:ext cx="3867912" cy="265176"/>
            </a:xfrm>
            <a:prstGeom prst="roundRect">
              <a:avLst>
                <a:gd name="adj" fmla="val 12000"/>
              </a:avLst>
            </a:prstGeom>
            <a:solidFill>
              <a:srgbClr val="087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同步接口"/>
            <p:cNvSpPr txBox="1"/>
            <p:nvPr/>
          </p:nvSpPr>
          <p:spPr>
            <a:xfrm>
              <a:off x="283464" y="937259"/>
              <a:ext cx="3758184" cy="246888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同步接口</a:t>
              </a:r>
            </a:p>
          </p:txBody>
        </p:sp>
        <p:sp>
          <p:nvSpPr>
            <p:cNvPr id="8" name="aclrtMemcpy"/>
            <p:cNvSpPr txBox="1"/>
            <p:nvPr/>
          </p:nvSpPr>
          <p:spPr>
            <a:xfrm>
              <a:off x="283464" y="1252728"/>
              <a:ext cx="3758184" cy="228600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aclrtMemcpy</a:t>
              </a:r>
            </a:p>
          </p:txBody>
        </p:sp>
        <p:sp>
          <p:nvSpPr>
            <p:cNvPr id="9" name="整条加密链完成后返回"/>
            <p:cNvSpPr txBox="1"/>
            <p:nvPr/>
          </p:nvSpPr>
          <p:spPr>
            <a:xfrm>
              <a:off x="283464" y="1536192"/>
              <a:ext cx="3758184" cy="19202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整条加密链完成后返回</a:t>
              </a:r>
            </a:p>
          </p:txBody>
        </p:sp>
        <p:sp>
          <p:nvSpPr>
            <p:cNvPr id="10" name="异步接口卡片"/>
            <p:cNvSpPr/>
            <p:nvPr/>
          </p:nvSpPr>
          <p:spPr>
            <a:xfrm>
              <a:off x="4315968" y="932688"/>
              <a:ext cx="3867912" cy="841248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 w="10160">
              <a:solidFill>
                <a:srgbClr val="009B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异步接口标题底色"/>
            <p:cNvSpPr/>
            <p:nvPr/>
          </p:nvSpPr>
          <p:spPr>
            <a:xfrm>
              <a:off x="4315968" y="932688"/>
              <a:ext cx="3867912" cy="265176"/>
            </a:xfrm>
            <a:prstGeom prst="roundRect">
              <a:avLst>
                <a:gd name="adj" fmla="val 12000"/>
              </a:avLst>
            </a:prstGeom>
            <a:solidFill>
              <a:srgbClr val="009B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异步接口"/>
            <p:cNvSpPr txBox="1"/>
            <p:nvPr/>
          </p:nvSpPr>
          <p:spPr>
            <a:xfrm>
              <a:off x="4370831" y="937259"/>
              <a:ext cx="3758184" cy="246888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异步接口</a:t>
              </a:r>
            </a:p>
          </p:txBody>
        </p:sp>
        <p:sp>
          <p:nvSpPr>
            <p:cNvPr id="13" name="aclrtMemcpyAsync"/>
            <p:cNvSpPr txBox="1"/>
            <p:nvPr/>
          </p:nvSpPr>
          <p:spPr>
            <a:xfrm>
              <a:off x="4370831" y="1252728"/>
              <a:ext cx="3758184" cy="228600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aclrtMemcpyAsync</a:t>
              </a:r>
            </a:p>
          </p:txBody>
        </p:sp>
        <p:sp>
          <p:nvSpPr>
            <p:cNvPr id="14" name="提交返回；流同步等待完成"/>
            <p:cNvSpPr txBox="1"/>
            <p:nvPr/>
          </p:nvSpPr>
          <p:spPr>
            <a:xfrm>
              <a:off x="4370831" y="1536192"/>
              <a:ext cx="3758184" cy="19202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提交返回；流同步等待完成</a:t>
              </a:r>
            </a:p>
          </p:txBody>
        </p:sp>
        <p:cxnSp>
          <p:nvCxnSpPr>
            <p:cNvPr id="15" name="连接箭头"/>
            <p:cNvCxnSpPr/>
            <p:nvPr/>
          </p:nvCxnSpPr>
          <p:spPr>
            <a:xfrm>
              <a:off x="2162556" y="1783080"/>
              <a:ext cx="0" cy="73151"/>
            </a:xfrm>
            <a:prstGeom prst="line">
              <a:avLst/>
            </a:prstGeom>
            <a:ln w="20320">
              <a:solidFill>
                <a:srgbClr val="087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连接箭头"/>
            <p:cNvCxnSpPr/>
            <p:nvPr/>
          </p:nvCxnSpPr>
          <p:spPr>
            <a:xfrm>
              <a:off x="6249924" y="1783080"/>
              <a:ext cx="0" cy="73151"/>
            </a:xfrm>
            <a:prstGeom prst="line">
              <a:avLst/>
            </a:prstGeom>
            <a:ln w="20320">
              <a:solidFill>
                <a:srgbClr val="087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连接箭头"/>
            <p:cNvCxnSpPr/>
            <p:nvPr/>
          </p:nvCxnSpPr>
          <p:spPr>
            <a:xfrm>
              <a:off x="2162556" y="1856231"/>
              <a:ext cx="4087368" cy="0"/>
            </a:xfrm>
            <a:prstGeom prst="line">
              <a:avLst/>
            </a:prstGeom>
            <a:ln w="20320">
              <a:solidFill>
                <a:srgbClr val="087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连接箭头"/>
            <p:cNvCxnSpPr/>
            <p:nvPr/>
          </p:nvCxnSpPr>
          <p:spPr>
            <a:xfrm>
              <a:off x="4206240" y="1856231"/>
              <a:ext cx="0" cy="100585"/>
            </a:xfrm>
            <a:prstGeom prst="line">
              <a:avLst/>
            </a:prstGeom>
            <a:ln w="20320">
              <a:solidFill>
                <a:srgbClr val="0879D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共同安全执行路径"/>
            <p:cNvSpPr/>
            <p:nvPr/>
          </p:nvSpPr>
          <p:spPr>
            <a:xfrm>
              <a:off x="228600" y="1975104"/>
              <a:ext cx="7955279" cy="329184"/>
            </a:xfrm>
            <a:prstGeom prst="roundRect">
              <a:avLst>
                <a:gd name="adj" fmla="val 12000"/>
              </a:avLst>
            </a:prstGeom>
            <a:solidFill>
              <a:srgbClr val="EAF4FD"/>
            </a:solidFill>
            <a:ln w="10160">
              <a:solidFill>
                <a:srgbClr val="087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共同进入 SecureDma：Host worker 负责主机处理与密文搬运"/>
            <p:cNvSpPr txBox="1"/>
            <p:nvPr/>
          </p:nvSpPr>
          <p:spPr>
            <a:xfrm>
              <a:off x="320040" y="1993392"/>
              <a:ext cx="7772400" cy="26517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60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共同进入 SecureDma</a:t>
              </a:r>
              <a:r>
                <a:rPr sz="160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：Host worker 负责主机处理与密文搬运</a:t>
              </a:r>
            </a:p>
          </p:txBody>
        </p:sp>
        <p:sp>
          <p:nvSpPr>
            <p:cNvPr id="21" name="设备控制路径"/>
            <p:cNvSpPr/>
            <p:nvPr/>
          </p:nvSpPr>
          <p:spPr>
            <a:xfrm>
              <a:off x="228600" y="2441448"/>
              <a:ext cx="7955279" cy="969264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 w="10160">
              <a:solidFill>
                <a:srgbClr val="009B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控制路径标题底色"/>
            <p:cNvSpPr/>
            <p:nvPr/>
          </p:nvSpPr>
          <p:spPr>
            <a:xfrm>
              <a:off x="228600" y="2441448"/>
              <a:ext cx="7955279" cy="274320"/>
            </a:xfrm>
            <a:prstGeom prst="roundRect">
              <a:avLst>
                <a:gd name="adj" fmla="val 12000"/>
              </a:avLst>
            </a:prstGeom>
            <a:solidFill>
              <a:srgbClr val="009B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设备流上的控制路径"/>
            <p:cNvSpPr txBox="1"/>
            <p:nvPr/>
          </p:nvSpPr>
          <p:spPr>
            <a:xfrm>
              <a:off x="320040" y="2446020"/>
              <a:ext cx="7772400" cy="256032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设备流上的控制路径</a:t>
              </a:r>
            </a:p>
          </p:txBody>
        </p:sp>
        <p:sp>
          <p:nvSpPr>
            <p:cNvPr id="24" name="Runtime 提交 SQE节点"/>
            <p:cNvSpPr/>
            <p:nvPr/>
          </p:nvSpPr>
          <p:spPr>
            <a:xfrm>
              <a:off x="393192" y="2834640"/>
              <a:ext cx="1847088" cy="310896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0160">
              <a:solidFill>
                <a:srgbClr val="009B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untime 提交 SQE"/>
            <p:cNvSpPr txBox="1"/>
            <p:nvPr/>
          </p:nvSpPr>
          <p:spPr>
            <a:xfrm>
              <a:off x="411480" y="2834640"/>
              <a:ext cx="1810512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Runtime 提交 SQE</a:t>
              </a:r>
            </a:p>
          </p:txBody>
        </p:sp>
        <p:sp>
          <p:nvSpPr>
            <p:cNvPr id="26" name="STARS 按流调度节点"/>
            <p:cNvSpPr/>
            <p:nvPr/>
          </p:nvSpPr>
          <p:spPr>
            <a:xfrm>
              <a:off x="2450592" y="2834640"/>
              <a:ext cx="1682496" cy="310896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0160">
              <a:solidFill>
                <a:srgbClr val="009B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STARS 按流调度"/>
            <p:cNvSpPr txBox="1"/>
            <p:nvPr/>
          </p:nvSpPr>
          <p:spPr>
            <a:xfrm>
              <a:off x="2468880" y="2834640"/>
              <a:ext cx="1645920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STARS 按流调度</a:t>
              </a:r>
            </a:p>
          </p:txBody>
        </p:sp>
        <p:sp>
          <p:nvSpPr>
            <p:cNvPr id="28" name="ValueWait(READY)节点"/>
            <p:cNvSpPr/>
            <p:nvPr/>
          </p:nvSpPr>
          <p:spPr>
            <a:xfrm>
              <a:off x="4343400" y="2834640"/>
              <a:ext cx="1737360" cy="310896"/>
            </a:xfrm>
            <a:prstGeom prst="roundRect">
              <a:avLst>
                <a:gd name="adj" fmla="val 12000"/>
              </a:avLst>
            </a:prstGeom>
            <a:solidFill>
              <a:srgbClr val="F4EDFE"/>
            </a:solidFill>
            <a:ln w="10160">
              <a:solidFill>
                <a:srgbClr val="713B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ValueWait(READY)"/>
            <p:cNvSpPr txBox="1"/>
            <p:nvPr/>
          </p:nvSpPr>
          <p:spPr>
            <a:xfrm>
              <a:off x="4361688" y="2834640"/>
              <a:ext cx="1700784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ValueWait(READY)</a:t>
              </a:r>
            </a:p>
          </p:txBody>
        </p:sp>
        <p:sp>
          <p:nvSpPr>
            <p:cNvPr id="30" name="AICPU SecureDma节点"/>
            <p:cNvSpPr/>
            <p:nvPr/>
          </p:nvSpPr>
          <p:spPr>
            <a:xfrm>
              <a:off x="6291072" y="2834640"/>
              <a:ext cx="1728216" cy="310896"/>
            </a:xfrm>
            <a:prstGeom prst="roundRect">
              <a:avLst>
                <a:gd name="adj" fmla="val 12000"/>
              </a:avLst>
            </a:prstGeom>
            <a:solidFill>
              <a:srgbClr val="F4EDFE"/>
            </a:solidFill>
            <a:ln w="10160">
              <a:solidFill>
                <a:srgbClr val="713B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AICPU SecureDma"/>
            <p:cNvSpPr txBox="1"/>
            <p:nvPr/>
          </p:nvSpPr>
          <p:spPr>
            <a:xfrm>
              <a:off x="6309359" y="2834640"/>
              <a:ext cx="1691639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AICPU SecureDma</a:t>
              </a:r>
            </a:p>
          </p:txBody>
        </p:sp>
        <p:cxnSp>
          <p:nvCxnSpPr>
            <p:cNvPr id="32" name="连接箭头"/>
            <p:cNvCxnSpPr/>
            <p:nvPr/>
          </p:nvCxnSpPr>
          <p:spPr>
            <a:xfrm>
              <a:off x="2253996" y="2990088"/>
              <a:ext cx="173736" cy="0"/>
            </a:xfrm>
            <a:prstGeom prst="line">
              <a:avLst/>
            </a:prstGeom>
            <a:ln w="20320">
              <a:solidFill>
                <a:srgbClr val="009B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连接箭头"/>
            <p:cNvCxnSpPr/>
            <p:nvPr/>
          </p:nvCxnSpPr>
          <p:spPr>
            <a:xfrm>
              <a:off x="4146804" y="2990088"/>
              <a:ext cx="173736" cy="0"/>
            </a:xfrm>
            <a:prstGeom prst="line">
              <a:avLst/>
            </a:prstGeom>
            <a:ln w="20320">
              <a:solidFill>
                <a:srgbClr val="009B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连接箭头"/>
            <p:cNvCxnSpPr/>
            <p:nvPr/>
          </p:nvCxnSpPr>
          <p:spPr>
            <a:xfrm>
              <a:off x="6094476" y="2990088"/>
              <a:ext cx="173736" cy="0"/>
            </a:xfrm>
            <a:prstGeom prst="line">
              <a:avLst/>
            </a:prstGeom>
            <a:ln w="20320">
              <a:solidFill>
                <a:srgbClr val="009B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STARS 调度任务，AICPU 执行加解密"/>
            <p:cNvSpPr txBox="1"/>
            <p:nvPr/>
          </p:nvSpPr>
          <p:spPr>
            <a:xfrm>
              <a:off x="365760" y="3209544"/>
              <a:ext cx="7680960" cy="155448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STARS 调度任务，AICPU 执行加解密</a:t>
              </a:r>
            </a:p>
          </p:txBody>
        </p:sp>
        <p:sp>
          <p:nvSpPr>
            <p:cNvPr id="36" name="H2D：Host 加密，Device 解密面板"/>
            <p:cNvSpPr/>
            <p:nvPr/>
          </p:nvSpPr>
          <p:spPr>
            <a:xfrm>
              <a:off x="228600" y="3547872"/>
              <a:ext cx="7955279" cy="1609344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0160">
              <a:solidFill>
                <a:srgbClr val="087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H2D：Host 加密，Device 解密标题底色"/>
            <p:cNvSpPr/>
            <p:nvPr/>
          </p:nvSpPr>
          <p:spPr>
            <a:xfrm>
              <a:off x="228600" y="3547872"/>
              <a:ext cx="7955279" cy="283464"/>
            </a:xfrm>
            <a:prstGeom prst="roundRect">
              <a:avLst>
                <a:gd name="adj" fmla="val 12000"/>
              </a:avLst>
            </a:prstGeom>
            <a:solidFill>
              <a:srgbClr val="087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H2D：Host 加密，Device 解密"/>
            <p:cNvSpPr txBox="1"/>
            <p:nvPr/>
          </p:nvSpPr>
          <p:spPr>
            <a:xfrm>
              <a:off x="393192" y="3552444"/>
              <a:ext cx="7626096" cy="260603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H2D：Host 加密，Device 解密</a:t>
              </a:r>
            </a:p>
          </p:txBody>
        </p:sp>
        <p:sp>
          <p:nvSpPr>
            <p:cNvPr id="39" name="Host 侧步骤标签"/>
            <p:cNvSpPr/>
            <p:nvPr/>
          </p:nvSpPr>
          <p:spPr>
            <a:xfrm>
              <a:off x="393192" y="3922776"/>
              <a:ext cx="1280160" cy="283464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1"/>
            <p:cNvSpPr txBox="1"/>
            <p:nvPr/>
          </p:nvSpPr>
          <p:spPr>
            <a:xfrm>
              <a:off x="429768" y="3922776"/>
              <a:ext cx="219456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lang="zh-CN">
                  <a:solidFill>
                    <a:srgbClr val="0879D9"/>
                  </a:solidFill>
                  <a:latin typeface="Microsoft YaHei"/>
                  <a:ea typeface="Microsoft YaHei"/>
                </a:rPr>
                <a:t>1</a:t>
              </a:r>
            </a:p>
          </p:txBody>
        </p:sp>
        <p:sp>
          <p:nvSpPr>
            <p:cNvPr id="41" name="Host 侧"/>
            <p:cNvSpPr txBox="1"/>
            <p:nvPr/>
          </p:nvSpPr>
          <p:spPr>
            <a:xfrm>
              <a:off x="667512" y="3922776"/>
              <a:ext cx="950976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879D9"/>
                  </a:solidFill>
                  <a:latin typeface="Microsoft YaHei"/>
                  <a:ea typeface="Microsoft YaHei"/>
                </a:rPr>
                <a:t>Host 侧</a:t>
              </a:r>
            </a:p>
          </p:txBody>
        </p:sp>
        <p:sp>
          <p:nvSpPr>
            <p:cNvPr id="42" name="Host 侧流程背景"/>
            <p:cNvSpPr/>
            <p:nvPr/>
          </p:nvSpPr>
          <p:spPr>
            <a:xfrm>
              <a:off x="1819656" y="3922776"/>
              <a:ext cx="6199632" cy="283464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 w="10160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业务明文 → Host worker 加密 → 密文缓冲"/>
            <p:cNvSpPr txBox="1"/>
            <p:nvPr/>
          </p:nvSpPr>
          <p:spPr>
            <a:xfrm>
              <a:off x="1856231" y="3922776"/>
              <a:ext cx="6126480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55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业务明文 → </a:t>
              </a:r>
              <a:r>
                <a:rPr sz="1550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Host worker 加密</a:t>
              </a:r>
              <a:r>
                <a:rPr sz="155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密文缓冲</a:t>
              </a:r>
            </a:p>
          </p:txBody>
        </p:sp>
        <p:cxnSp>
          <p:nvCxnSpPr>
            <p:cNvPr id="44" name="连接箭头"/>
            <p:cNvCxnSpPr/>
            <p:nvPr/>
          </p:nvCxnSpPr>
          <p:spPr>
            <a:xfrm>
              <a:off x="4919472" y="4215384"/>
              <a:ext cx="0" cy="91440"/>
            </a:xfrm>
            <a:prstGeom prst="line">
              <a:avLst/>
            </a:prstGeom>
            <a:ln w="20320">
              <a:solidFill>
                <a:srgbClr val="0879D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UB 传输步骤标签"/>
            <p:cNvSpPr/>
            <p:nvPr/>
          </p:nvSpPr>
          <p:spPr>
            <a:xfrm>
              <a:off x="393192" y="4315968"/>
              <a:ext cx="1280160" cy="283464"/>
            </a:xfrm>
            <a:prstGeom prst="roundRect">
              <a:avLst>
                <a:gd name="adj" fmla="val 12000"/>
              </a:avLst>
            </a:prstGeom>
            <a:solidFill>
              <a:srgbClr val="FFF5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2"/>
            <p:cNvSpPr txBox="1"/>
            <p:nvPr/>
          </p:nvSpPr>
          <p:spPr>
            <a:xfrm>
              <a:off x="429768" y="4315968"/>
              <a:ext cx="219456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2</a:t>
              </a:r>
            </a:p>
          </p:txBody>
        </p:sp>
        <p:sp>
          <p:nvSpPr>
            <p:cNvPr id="47" name="UB 传输"/>
            <p:cNvSpPr txBox="1"/>
            <p:nvPr/>
          </p:nvSpPr>
          <p:spPr>
            <a:xfrm>
              <a:off x="667512" y="4315968"/>
              <a:ext cx="950976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UB 传输</a:t>
              </a:r>
            </a:p>
          </p:txBody>
        </p:sp>
        <p:sp>
          <p:nvSpPr>
            <p:cNvPr id="48" name="UB 传输流程背景"/>
            <p:cNvSpPr/>
            <p:nvPr/>
          </p:nvSpPr>
          <p:spPr>
            <a:xfrm>
              <a:off x="1819656" y="4315968"/>
              <a:ext cx="6199632" cy="283464"/>
            </a:xfrm>
            <a:prstGeom prst="roundRect">
              <a:avLst>
                <a:gd name="adj" fmla="val 12000"/>
              </a:avLst>
            </a:prstGeom>
            <a:solidFill>
              <a:srgbClr val="FFF5DF"/>
            </a:solidFill>
            <a:ln w="10160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驱动 MemCopySync → URMA → Device 密文缓冲"/>
            <p:cNvSpPr txBox="1"/>
            <p:nvPr/>
          </p:nvSpPr>
          <p:spPr>
            <a:xfrm>
              <a:off x="1856231" y="4315968"/>
              <a:ext cx="6126480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2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520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驱动 MemCopySync</a:t>
              </a:r>
              <a:r>
                <a:rPr sz="152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URMA → Device 密文缓冲</a:t>
              </a:r>
            </a:p>
          </p:txBody>
        </p:sp>
        <p:sp>
          <p:nvSpPr>
            <p:cNvPr id="50" name="密文搬运完成后发布 READY"/>
            <p:cNvSpPr txBox="1"/>
            <p:nvPr/>
          </p:nvSpPr>
          <p:spPr>
            <a:xfrm>
              <a:off x="1883664" y="4636008"/>
              <a:ext cx="5532120" cy="155448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63748A"/>
                  </a:solidFill>
                  <a:latin typeface="Microsoft YaHei"/>
                  <a:ea typeface="Microsoft YaHei"/>
                </a:rPr>
                <a:t>密文搬运完成后发布 READY</a:t>
              </a:r>
            </a:p>
          </p:txBody>
        </p:sp>
        <p:cxnSp>
          <p:nvCxnSpPr>
            <p:cNvPr id="51" name="连接箭头"/>
            <p:cNvCxnSpPr/>
            <p:nvPr/>
          </p:nvCxnSpPr>
          <p:spPr>
            <a:xfrm>
              <a:off x="7680960" y="4617720"/>
              <a:ext cx="0" cy="192024"/>
            </a:xfrm>
            <a:prstGeom prst="line">
              <a:avLst/>
            </a:prstGeom>
            <a:ln w="15240">
              <a:solidFill>
                <a:srgbClr val="0879D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evice 侧步骤标签"/>
            <p:cNvSpPr/>
            <p:nvPr/>
          </p:nvSpPr>
          <p:spPr>
            <a:xfrm>
              <a:off x="393192" y="4818888"/>
              <a:ext cx="1280160" cy="283464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3"/>
            <p:cNvSpPr txBox="1"/>
            <p:nvPr/>
          </p:nvSpPr>
          <p:spPr>
            <a:xfrm>
              <a:off x="429768" y="4818888"/>
              <a:ext cx="219456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lang="zh-CN">
                  <a:solidFill>
                    <a:srgbClr val="009BA3"/>
                  </a:solidFill>
                  <a:latin typeface="Microsoft YaHei"/>
                  <a:ea typeface="Microsoft YaHei"/>
                </a:rPr>
                <a:t>3</a:t>
              </a:r>
            </a:p>
          </p:txBody>
        </p:sp>
        <p:sp>
          <p:nvSpPr>
            <p:cNvPr id="54" name="Device 侧"/>
            <p:cNvSpPr txBox="1"/>
            <p:nvPr/>
          </p:nvSpPr>
          <p:spPr>
            <a:xfrm>
              <a:off x="667512" y="4818888"/>
              <a:ext cx="950976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09BA3"/>
                  </a:solidFill>
                  <a:latin typeface="Microsoft YaHei"/>
                  <a:ea typeface="Microsoft YaHei"/>
                </a:rPr>
                <a:t>Device 侧</a:t>
              </a:r>
            </a:p>
          </p:txBody>
        </p:sp>
        <p:sp>
          <p:nvSpPr>
            <p:cNvPr id="55" name="Device 侧流程背景"/>
            <p:cNvSpPr/>
            <p:nvPr/>
          </p:nvSpPr>
          <p:spPr>
            <a:xfrm>
              <a:off x="1819656" y="4818888"/>
              <a:ext cx="6199632" cy="283464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 w="10160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ValueWait 放行 → AICPU 解密 → 业务明文"/>
            <p:cNvSpPr txBox="1"/>
            <p:nvPr/>
          </p:nvSpPr>
          <p:spPr>
            <a:xfrm>
              <a:off x="1856231" y="4818888"/>
              <a:ext cx="6126480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55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ValueWait 放行 → </a:t>
              </a:r>
              <a:r>
                <a:rPr sz="1550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AICPU 解密</a:t>
              </a:r>
              <a:r>
                <a:rPr sz="155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业务明文</a:t>
              </a:r>
            </a:p>
          </p:txBody>
        </p:sp>
        <p:sp>
          <p:nvSpPr>
            <p:cNvPr id="57" name="D2H：Device 加密，Host 解密面板"/>
            <p:cNvSpPr/>
            <p:nvPr/>
          </p:nvSpPr>
          <p:spPr>
            <a:xfrm>
              <a:off x="228600" y="5303520"/>
              <a:ext cx="7955279" cy="146304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0160">
              <a:solidFill>
                <a:srgbClr val="009B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D2H：Device 加密，Host 解密标题底色"/>
            <p:cNvSpPr/>
            <p:nvPr/>
          </p:nvSpPr>
          <p:spPr>
            <a:xfrm>
              <a:off x="228600" y="5303520"/>
              <a:ext cx="7955279" cy="283464"/>
            </a:xfrm>
            <a:prstGeom prst="roundRect">
              <a:avLst>
                <a:gd name="adj" fmla="val 12000"/>
              </a:avLst>
            </a:prstGeom>
            <a:solidFill>
              <a:srgbClr val="009B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D2H：Device 加密，Host 解密"/>
            <p:cNvSpPr txBox="1"/>
            <p:nvPr/>
          </p:nvSpPr>
          <p:spPr>
            <a:xfrm>
              <a:off x="393192" y="5308092"/>
              <a:ext cx="7626096" cy="260603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D2H：Device 加密，Host 解密</a:t>
              </a:r>
            </a:p>
          </p:txBody>
        </p:sp>
        <p:sp>
          <p:nvSpPr>
            <p:cNvPr id="60" name="Device 侧步骤标签"/>
            <p:cNvSpPr/>
            <p:nvPr/>
          </p:nvSpPr>
          <p:spPr>
            <a:xfrm>
              <a:off x="393192" y="5669280"/>
              <a:ext cx="1280160" cy="283464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1"/>
            <p:cNvSpPr txBox="1"/>
            <p:nvPr/>
          </p:nvSpPr>
          <p:spPr>
            <a:xfrm>
              <a:off x="429768" y="5669280"/>
              <a:ext cx="219456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lang="zh-CN">
                  <a:solidFill>
                    <a:srgbClr val="009BA3"/>
                  </a:solidFill>
                  <a:latin typeface="Microsoft YaHei"/>
                  <a:ea typeface="Microsoft YaHei"/>
                </a:rPr>
                <a:t>1</a:t>
              </a:r>
            </a:p>
          </p:txBody>
        </p:sp>
        <p:sp>
          <p:nvSpPr>
            <p:cNvPr id="62" name="Device 侧"/>
            <p:cNvSpPr txBox="1"/>
            <p:nvPr/>
          </p:nvSpPr>
          <p:spPr>
            <a:xfrm>
              <a:off x="667512" y="5669280"/>
              <a:ext cx="950976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09BA3"/>
                  </a:solidFill>
                  <a:latin typeface="Microsoft YaHei"/>
                  <a:ea typeface="Microsoft YaHei"/>
                </a:rPr>
                <a:t>Device 侧</a:t>
              </a:r>
            </a:p>
          </p:txBody>
        </p:sp>
        <p:sp>
          <p:nvSpPr>
            <p:cNvPr id="63" name="Device 侧流程背景"/>
            <p:cNvSpPr/>
            <p:nvPr/>
          </p:nvSpPr>
          <p:spPr>
            <a:xfrm>
              <a:off x="1819656" y="5669280"/>
              <a:ext cx="6199632" cy="283464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 w="10160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业务明文 → AICPU 加密 → 密文缓冲"/>
            <p:cNvSpPr txBox="1"/>
            <p:nvPr/>
          </p:nvSpPr>
          <p:spPr>
            <a:xfrm>
              <a:off x="1856231" y="5669280"/>
              <a:ext cx="6126480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55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业务明文 → </a:t>
              </a:r>
              <a:r>
                <a:rPr sz="1550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AICPU 加密</a:t>
              </a:r>
              <a:r>
                <a:rPr sz="155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密文缓冲</a:t>
              </a:r>
            </a:p>
          </p:txBody>
        </p:sp>
        <p:cxnSp>
          <p:nvCxnSpPr>
            <p:cNvPr id="65" name="连接箭头"/>
            <p:cNvCxnSpPr/>
            <p:nvPr/>
          </p:nvCxnSpPr>
          <p:spPr>
            <a:xfrm>
              <a:off x="4919472" y="5961888"/>
              <a:ext cx="0" cy="73152"/>
            </a:xfrm>
            <a:prstGeom prst="line">
              <a:avLst/>
            </a:prstGeom>
            <a:ln w="20320">
              <a:solidFill>
                <a:srgbClr val="009B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UB 传输步骤标签"/>
            <p:cNvSpPr/>
            <p:nvPr/>
          </p:nvSpPr>
          <p:spPr>
            <a:xfrm>
              <a:off x="393192" y="6044184"/>
              <a:ext cx="1280160" cy="283464"/>
            </a:xfrm>
            <a:prstGeom prst="roundRect">
              <a:avLst>
                <a:gd name="adj" fmla="val 12000"/>
              </a:avLst>
            </a:prstGeom>
            <a:solidFill>
              <a:srgbClr val="FFF5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2"/>
            <p:cNvSpPr txBox="1"/>
            <p:nvPr/>
          </p:nvSpPr>
          <p:spPr>
            <a:xfrm>
              <a:off x="429768" y="6044184"/>
              <a:ext cx="219456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2</a:t>
              </a:r>
            </a:p>
          </p:txBody>
        </p:sp>
        <p:sp>
          <p:nvSpPr>
            <p:cNvPr id="68" name="UB 传输"/>
            <p:cNvSpPr txBox="1"/>
            <p:nvPr/>
          </p:nvSpPr>
          <p:spPr>
            <a:xfrm>
              <a:off x="667512" y="6044184"/>
              <a:ext cx="950976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UB 传输</a:t>
              </a:r>
            </a:p>
          </p:txBody>
        </p:sp>
        <p:sp>
          <p:nvSpPr>
            <p:cNvPr id="69" name="UB 传输流程背景"/>
            <p:cNvSpPr/>
            <p:nvPr/>
          </p:nvSpPr>
          <p:spPr>
            <a:xfrm>
              <a:off x="1819656" y="6044184"/>
              <a:ext cx="6199632" cy="283464"/>
            </a:xfrm>
            <a:prstGeom prst="roundRect">
              <a:avLst>
                <a:gd name="adj" fmla="val 12000"/>
              </a:avLst>
            </a:prstGeom>
            <a:solidFill>
              <a:srgbClr val="FFF5DF"/>
            </a:solidFill>
            <a:ln w="10160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设备加密完成 → 驱动 / URMA → Host 密文缓冲"/>
            <p:cNvSpPr txBox="1"/>
            <p:nvPr/>
          </p:nvSpPr>
          <p:spPr>
            <a:xfrm>
              <a:off x="1856231" y="6044184"/>
              <a:ext cx="6126480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2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52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设备加密完成 → </a:t>
              </a:r>
              <a:r>
                <a:rPr sz="1520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驱动 / URMA</a:t>
              </a:r>
              <a:r>
                <a:rPr sz="152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Host 密文缓冲</a:t>
              </a:r>
            </a:p>
          </p:txBody>
        </p:sp>
        <p:cxnSp>
          <p:nvCxnSpPr>
            <p:cNvPr id="71" name="连接箭头"/>
            <p:cNvCxnSpPr/>
            <p:nvPr/>
          </p:nvCxnSpPr>
          <p:spPr>
            <a:xfrm>
              <a:off x="4919472" y="6336792"/>
              <a:ext cx="0" cy="73152"/>
            </a:xfrm>
            <a:prstGeom prst="line">
              <a:avLst/>
            </a:prstGeom>
            <a:ln w="20320">
              <a:solidFill>
                <a:srgbClr val="009B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Host 侧步骤标签"/>
            <p:cNvSpPr/>
            <p:nvPr/>
          </p:nvSpPr>
          <p:spPr>
            <a:xfrm>
              <a:off x="393192" y="6419088"/>
              <a:ext cx="1280160" cy="283464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3"/>
            <p:cNvSpPr txBox="1"/>
            <p:nvPr/>
          </p:nvSpPr>
          <p:spPr>
            <a:xfrm>
              <a:off x="429768" y="6419088"/>
              <a:ext cx="219456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lang="zh-CN">
                  <a:solidFill>
                    <a:srgbClr val="0879D9"/>
                  </a:solidFill>
                  <a:latin typeface="Microsoft YaHei"/>
                  <a:ea typeface="Microsoft YaHei"/>
                </a:rPr>
                <a:t>3</a:t>
              </a:r>
            </a:p>
          </p:txBody>
        </p:sp>
        <p:sp>
          <p:nvSpPr>
            <p:cNvPr id="74" name="Host 侧"/>
            <p:cNvSpPr txBox="1"/>
            <p:nvPr/>
          </p:nvSpPr>
          <p:spPr>
            <a:xfrm>
              <a:off x="667512" y="6419088"/>
              <a:ext cx="950976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879D9"/>
                  </a:solidFill>
                  <a:latin typeface="Microsoft YaHei"/>
                  <a:ea typeface="Microsoft YaHei"/>
                </a:rPr>
                <a:t>Host 侧</a:t>
              </a:r>
            </a:p>
          </p:txBody>
        </p:sp>
        <p:sp>
          <p:nvSpPr>
            <p:cNvPr id="75" name="Host 侧流程背景"/>
            <p:cNvSpPr/>
            <p:nvPr/>
          </p:nvSpPr>
          <p:spPr>
            <a:xfrm>
              <a:off x="1819656" y="6419088"/>
              <a:ext cx="6199632" cy="283464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 w="10160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Host worker 解密 → 业务明文"/>
            <p:cNvSpPr txBox="1"/>
            <p:nvPr/>
          </p:nvSpPr>
          <p:spPr>
            <a:xfrm>
              <a:off x="1856231" y="6419088"/>
              <a:ext cx="6126480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550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Host worker 解密</a:t>
              </a:r>
              <a:r>
                <a:rPr sz="155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业务明文</a:t>
              </a:r>
            </a:p>
          </p:txBody>
        </p:sp>
        <p:sp>
          <p:nvSpPr>
            <p:cNvPr id="77" name="完成语义总结"/>
            <p:cNvSpPr/>
            <p:nvPr/>
          </p:nvSpPr>
          <p:spPr>
            <a:xfrm>
              <a:off x="228600" y="6903720"/>
              <a:ext cx="7955279" cy="566928"/>
            </a:xfrm>
            <a:prstGeom prst="roundRect">
              <a:avLst>
                <a:gd name="adj" fmla="val 12000"/>
              </a:avLst>
            </a:prstGeom>
            <a:solidFill>
              <a:srgbClr val="EAF4FD"/>
            </a:solidFill>
            <a:ln w="10160">
              <a:solidFill>
                <a:srgbClr val="087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链路搬运密文；端侧处理明文"/>
            <p:cNvSpPr txBox="1"/>
            <p:nvPr/>
          </p:nvSpPr>
          <p:spPr>
            <a:xfrm>
              <a:off x="365760" y="6931152"/>
              <a:ext cx="7680960" cy="23774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链路搬运密文；端侧处理明文</a:t>
              </a:r>
            </a:p>
          </p:txBody>
        </p:sp>
        <p:sp>
          <p:nvSpPr>
            <p:cNvPr id="79" name="完成语义覆盖：加密 + 搬运 + 解密"/>
            <p:cNvSpPr txBox="1"/>
            <p:nvPr/>
          </p:nvSpPr>
          <p:spPr>
            <a:xfrm>
              <a:off x="365760" y="7205472"/>
              <a:ext cx="7680960" cy="23774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完成语义覆盖：加密 + 搬运 + 解密</a:t>
              </a:r>
            </a:p>
          </p:txBody>
        </p:sp>
        <p:sp>
          <p:nvSpPr>
            <p:cNvPr id="80" name="AES-256-CTR · 小拷贝整帧 / 大拷贝按片流水 · 加密路径启用时"/>
            <p:cNvSpPr txBox="1"/>
            <p:nvPr/>
          </p:nvSpPr>
          <p:spPr>
            <a:xfrm>
              <a:off x="274320" y="7552944"/>
              <a:ext cx="7863840" cy="182880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63748A"/>
                  </a:solidFill>
                  <a:latin typeface="Microsoft YaHei"/>
                  <a:ea typeface="Microsoft YaHei"/>
                </a:rPr>
                <a:t>AES-256-CTR · 小拷贝整帧 / 大拷贝按片流水 · 加密路径启用时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CANN Runtime 加密拷贝：同步与异步（宽版）</dc:title>
  <dc:subject>Ascend 950 UB / iter-014，原生可编辑流程图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